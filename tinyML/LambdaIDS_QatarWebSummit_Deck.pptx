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2" y="28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8177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make every IoT device self-defending through embedded AI security.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Regulatory pressure (IEC 62443, NIS2) is a market pull.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F8FA-7524-5448-F851-753A11301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866BD-B664-70DF-FD95-ABAF2C47F4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E2B804-89FB-C034-4C9E-5C597487E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F97A7-4522-4C0D-30FB-E74852B05D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6208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00A1-B4B6-BC62-D192-C9EF6F63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E596B-FFC2-46BB-14E1-DAEF905B7C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DB174-32E7-65C6-79E4-CAC6E24D20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42439-07A7-ECAC-CE10-6C372CB8EB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583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EE72-A653-2ED5-5EF4-0191EA6D0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63D59-8222-66C0-12C1-ED654ECC27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95F9C0-42EE-5F3B-33C4-8DCD2F945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A9B9F-BB9C-09D9-7ECE-8B3B1A463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77585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Shows academic rigor and industrial readiness.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9DA56-83C0-9E24-8A4E-E33229301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E5215-79EB-2286-609A-CEFFA4769F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7879-534C-9136-5280-6B6701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E08E2-9A0E-A9C2-0F36-4B696009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6866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2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>
              <a:defRPr sz="4400" b="1" i="0">
                <a:solidFill>
                  <a:srgbClr val="8B7355"/>
                </a:solidFill>
                <a:latin typeface="Segoe UI"/>
              </a:defRPr>
            </a:pPr>
            <a:r>
              <a:t>LambdaIDS: The Immune System for the Edge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/>
          <a:p>
            <a:pPr>
              <a:spcAft>
                <a:spcPts val="1200"/>
              </a:spcAft>
              <a:defRPr sz="2400" b="0" i="0">
                <a:solidFill>
                  <a:srgbClr val="8B7355"/>
                </a:solidFill>
                <a:latin typeface="Segoe UI"/>
              </a:defRPr>
            </a:pPr>
            <a:r>
              <a:t>Securing the Critical Infrastructure of Tomorrow with TinyML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We enable secure, autonomous, and compliant IoT at the edge.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Ahmad Mostafavi | Soroush Safaei | Hossein Fotouhi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>
              <a:defRPr sz="4400" b="1" i="0">
                <a:solidFill>
                  <a:srgbClr val="8B7355"/>
                </a:solidFill>
                <a:latin typeface="Segoe UI"/>
              </a:defRPr>
            </a:pPr>
            <a:r>
              <a:t>LambdaIDS: The Immune System for the Edge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/>
          <a:p>
            <a:pPr>
              <a:spcAft>
                <a:spcPts val="1200"/>
              </a:spcAft>
              <a:defRPr sz="2400" b="0" i="0">
                <a:solidFill>
                  <a:srgbClr val="8B7355"/>
                </a:solidFill>
                <a:latin typeface="Segoe UI"/>
              </a:defRPr>
            </a:pPr>
            <a:r>
              <a:t>Securing the Critical Infrastructure of Tomorrow with TinyML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We enable secure, autonomous, and compliant IoT at the edge.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Ahmad Mostafavi | Soroush Safaei | Hossein Fotouhi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Problem: The 'Smart' World is Critically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Explosion of Attack Surface: 75 Billion IoT devices by 2025.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Resource Constraints: Existing security tools (agents, firewalls) are too heavy for microcontrollers.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Result: 98% of IoT traffic is unencrypted or vulnerable.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Critical Risk: Ransomware in hospitals, grid shutdowns, industrial espionage.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Problem: The 'Smart' World is Critically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Explosion of Attack Surface: 75 Billion IoT devices by 2025.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Resource Constraints: Existing security tools (agents, firewalls) are too heavy for microcontrollers.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Result: 98% of IoT traffic is unencrypted or vulnerable.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Critical Risk: Ransomware in hospitals, grid shutdowns, industrial espionage.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Why Now? The Regulatory Tsunami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EU Cyber Resilience Act (CRA): Mandatory cybersecurity for ALL connected products by 2025/2026.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IEC 62443: Moving from 'nice-to-have' to 'must-have' for industrial compliance.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Market Gap: Manufacturers are entering a panic mode. They lack the expertise to build compliant security from scratch.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Opportunity: Compliance is no longer optional—it is a license to operate.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Why Now? The Regulatory Tsunami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EU Cyber Resilience Act (CRA): Mandatory cybersecurity for ALL connected products by 2025/2026.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IEC 62443: Moving from 'nice-to-have' to 'must-have' for industrial compliance.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Market Gap: Manufacturers are entering a panic mode. They lack the expertise to build compliant security from scratch.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Opportunity: Compliance is no longer optional—it is a license to operate.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Solution: LambdaIDS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Autonomous On-Device Security: An AI agent that lives ON the microcontroller.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Real-time Anomaly Detection: Detects zero-day attacks instantly without cloud latency.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Ultra-Lightweight: Runs on &lt;100KB RAM. Consumes negligible battery.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Compliance-Ready: Built to satisfy IEC 62443 and CRA requirements out of the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Solution: LambdaIDS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Autonomous On-Device Security: An AI agent that lives ON the microcontroller.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Real-time Anomaly Detection: Detects zero-day attacks instantly without cloud latency.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Ultra-Lightweight: Runs on &lt;100KB RAM. Consumes negligible battery.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Compliance-Ready: Built to satisfy IEC 62443 and CRA requirements out of the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How It Works: Edge AI vs. Cloud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Traditional (Cloud): High latency, privacy risks, high data cost, fails offline.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LambdaIDS (Edge): Zero latency, privacy-preserving, works offline, 100x more energy efficient.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Tech Stack: Proprietary TinyML algorithms optimized for ARM Cortex-M and RISC-V.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How It Works: Edge AI vs. Cloud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Traditional (Cloud): High latency, privacy risks, high data cost, fails offline.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LambdaIDS (Edge): Zero latency, privacy-preserving, works offline, 100x more energy efficient.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Tech Stack: Proprietary TinyML algorithms optimized for ARM Cortex-M and RISC-V.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Total Addressable Market (TAM): $30B+ IoT Security Market (growing 25% YoY).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Serviceable Available Market (SAM): $4B Industrial &amp; Utility IoT Security.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Serviceable Obtainable Market (SOM): $100M (Nordic + MENA Critical Infrastructure).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Target Segments: Industrial Automation (IIoT), Smart Energy, Automotive.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Total Addressable Market (TAM): $30B+ IoT Security Market (growing 25% YoY).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Serviceable Available Market (SAM): $4B Industrial &amp; Utility IoT Security.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Serviceable Obtainable Market (SOM): $100M (Nordic + MENA Critical Infrastructure).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Target Segments: Industrial Automation (IIoT), Smart Energy, Automotive.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B2B Licensing &amp; SDK: Per-device license fee for OEMs.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Tiered Subscription: Basic (Detection) vs. Pro (Prevention + Fleet Analytics).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Pilot Strategy: Paid pilots with Tier 1 manufacturers to validate and customize.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Scalability: High-margin software model (80%+ gross margin at scale).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B2B Licensing &amp; SDK: Per-device license fee for OEMs.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Tiered Subscription: Basic (Detection) vs. Pro (Prevention + Fleet Analytics).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Pilot Strategy: Paid pilots with Tier 1 manufacturers to validate and customize.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Scalability: High-margin software model (80%+ gross margin at scale).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Traction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Key Partners: Collaboration with Combitech &amp; RISE (Research Institutes of Sweden).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Academic Validation: Backed by cutting-edge research in Embedded AI.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Funding: Secured early grant funding (Vinnova/VFT). Validation of tech novelty.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Pipeline: Discussions with major players in Industrial Automation (ABB, Siemens ecosystem).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Traction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Key Partners: Collaboration with Combitech &amp; RISE (Research Institutes of Sweden).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Academic Validation: Backed by cutting-edge research in Embedded AI.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Funding: Secured early grant funding (Vinnova/VFT). Validation of tech novelty.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Pipeline: Discussions with major players in Industrial Automation (ABB, Siemens ecosystem).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Competitive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Cloud-Based (Darktrace, etc.): Too heavy, high latency. (LambdaIDS wins on Speed/Size).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Embedded Legacy (Firewalls): Static rules, can't stop zero-days. (LambdaIDS wins on Adaptability).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LambdaIDS Advantage: The only solution combining TinyML + IEC 62443 Compliance + &lt;100KB Footprint.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Moat: Proprietary quantization algorithms &amp; curated attack datasets.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Competitive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Cloud-Based (Darktrace, etc.): Too heavy, high latency. (LambdaIDS wins on Speed/Size).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Embedded Legacy (Firewalls): Static rules, can't stop zero-days. (LambdaIDS wins on Adaptability).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The LambdaIDS Advantage: The only solution combining TinyML + IEC 62443 Compliance + &lt;100KB Footprint.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Moat: Proprietary quantization algorithms &amp; curated attack datasets.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Roadmap: Path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Q1-Q2 2025: Finalize SDK v1.0. Complete Pilot with Combitech/RISE.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Q3-Q4 2025: First Commercial Deployments (Industrial Sector). Achieve IEC 62443 Cert.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2026: Expansion to MENA region. Series A for Global Scale.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2027: Integration with major Chip Vendors (ST, NXP).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Roadmap: Path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Q1-Q2 2025: Finalize SDK v1.0. Complete Pilot with Combitech/RISE.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Q3-Q4 2025: First Commercial Deployments (Industrial Sector). Achieve IEC 62443 Cert.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2026: Expansion to MENA region. Series A for Global Scale.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2027: Integration with major Chip Vendors (ST, NXP).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54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 i="0">
                <a:solidFill>
                  <a:srgbClr val="8B7355"/>
                </a:solidFill>
                <a:latin typeface="Segoe UI"/>
              </a:defRPr>
            </a:pPr>
            <a:r>
              <a:t>The Team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hmadMostafavi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590" y="155448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Ahmad Mostafavi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CEO &amp; 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Deep tech expert in Embedded Systems &amp;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781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orous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732" y="155448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89661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Soroush Safaei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Co-Founder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Expertise in AI Strategy &amp; Market Development.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4923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sseinFotouhi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3874" y="1554480"/>
            <a:ext cx="17373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47803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Hossein Fotouhi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Co-Founder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Associate Professor at MDU, Expert in IoT &amp; Edge Computing.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6002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 i="1">
                <a:solidFill>
                  <a:srgbClr val="333333"/>
                </a:solidFill>
                <a:latin typeface="Segoe UI"/>
              </a:defRPr>
            </a:pPr>
            <a:r>
              <a:t>Why Us: We bridge the gap between AI, Hardware constraints, and Academic Innovation.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54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4000" b="1" i="0">
                <a:solidFill>
                  <a:srgbClr val="8B7355"/>
                </a:solidFill>
                <a:latin typeface="Segoe UI"/>
              </a:defRPr>
            </a:pPr>
            <a:r>
              <a:t>The Team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hmadMostafavi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590" y="1554480"/>
            <a:ext cx="1737360" cy="1737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Ahmad Mostafavi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CEO &amp; 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Deep tech expert in Embedded Systems &amp; Security.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781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oroush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5732" y="1554480"/>
            <a:ext cx="1737360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89661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Soroush Safaei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Co-Founder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Expertise in AI Strategy &amp; Market Development.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4923" y="1371600"/>
            <a:ext cx="3575261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B73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osseinFotouhi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83874" y="1554480"/>
            <a:ext cx="1737360" cy="1737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47803" y="3383280"/>
            <a:ext cx="3209501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8B7355"/>
                </a:solidFill>
                <a:latin typeface="Segoe UI"/>
              </a:defRPr>
            </a:pPr>
            <a:r>
              <a:t>Hossein Fotouhi</a:t>
            </a:r>
          </a:p>
          <a:p>
            <a:pPr algn="ctr">
              <a:defRPr sz="1300" b="0" i="1">
                <a:solidFill>
                  <a:srgbClr val="333333"/>
                </a:solidFill>
                <a:latin typeface="Segoe UI"/>
              </a:defRPr>
            </a:pPr>
            <a:r>
              <a:t>Co-Founder</a:t>
            </a:r>
          </a:p>
          <a:p>
            <a:pPr algn="ctr">
              <a:defRPr sz="1200" b="0" i="0">
                <a:solidFill>
                  <a:srgbClr val="333333"/>
                </a:solidFill>
                <a:latin typeface="Segoe UI"/>
              </a:defRPr>
            </a:pPr>
            <a:r>
              <a:t>Associate Professor at MDU, Expert in IoT &amp; Edge Computing.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77840"/>
            <a:ext cx="1036002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0" i="1">
                <a:solidFill>
                  <a:srgbClr val="333333"/>
                </a:solidFill>
                <a:latin typeface="Segoe UI"/>
              </a:defRPr>
            </a:pPr>
            <a:r>
              <a:t>Why Us: We bridge the gap between AI, Hardware constraints, and Academic Innovation.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Seeking: $500K - $1M (Seed / Pre-Seed).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Use of Funds: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40% R&amp;D (SDK refinement, Certification).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30% Business Dev (Pilot execution, Partnership management).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30% Operations &amp; Legal (IP Protection).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Opportunity: Join us in defining the standard for Edge AI Security.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Seeking: $500K - $1M (Seed / Pre-Seed).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Use of Funds: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40% R&amp;D (SDK refinement, Certification).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30% Business Dev (Pilot execution, Partnership management).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30% Operations &amp; Legal (IP Protection).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Opportunity: Join us in defining the standard for Edge AI Security.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Contact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/>
          <a:p>
            <a:pPr>
              <a:spcAft>
                <a:spcPts val="1200"/>
              </a:spcAft>
              <a:defRPr sz="2400" b="0" i="0">
                <a:solidFill>
                  <a:srgbClr val="8B7355"/>
                </a:solidFill>
                <a:latin typeface="Segoe UI"/>
              </a:defRPr>
            </a:pPr>
            <a:r>
              <a:t>Let's build a secure future together.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Ahmad Mostafavi, Soroush Safaei, Hossein Fotouhi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LambdaIDS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www.lambdaids.se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>
              <a:defRPr sz="3600" b="1" i="0">
                <a:solidFill>
                  <a:srgbClr val="8B7355"/>
                </a:solidFill>
                <a:latin typeface="Segoe UI"/>
              </a:defRPr>
            </a:pPr>
            <a:r>
              <a:t>Contact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/>
          <a:p>
            <a:pPr>
              <a:spcAft>
                <a:spcPts val="1200"/>
              </a:spcAft>
              <a:defRPr sz="2400" b="0" i="0">
                <a:solidFill>
                  <a:srgbClr val="8B7355"/>
                </a:solidFill>
                <a:latin typeface="Segoe UI"/>
              </a:defRPr>
            </a:pPr>
            <a:r>
              <a:t>Let's build a secure future together.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Ahmad Mostafavi, Soroush Safaei, Hossein Fotouhi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LambdaIDS</a:t>
            </a:r>
          </a:p>
          <a:p>
            <a:pPr>
              <a:spcAft>
                <a:spcPts val="1000"/>
              </a:spcAft>
              <a:defRPr sz="2000" b="0" i="0">
                <a:solidFill>
                  <a:srgbClr val="333333"/>
                </a:solidFill>
                <a:latin typeface="Segoe UI"/>
              </a:defRPr>
            </a:pPr>
            <a:r>
              <a:t>www.lambdaids.se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ai_shield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952" y="360000"/>
            <a:ext cx="792000" cy="9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2296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B6C9"/>
                </a:solidFill>
                <a:latin typeface="Arial Rounded MT Bold"/>
              </a:defRPr>
            </a:pPr>
            <a:r>
              <a:t>Vision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Segoe UI"/>
              </a:defRPr>
            </a:pPr>
            <a:r>
              <a:rPr sz="2400" b="1" dirty="0"/>
              <a:t>“Enabling secure and autonomous IoT - everywhere.”</a:t>
            </a:r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endParaRPr sz="2400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r>
              <a:rPr lang="en-SE" b="1"/>
              <a:t>Terneshk</a:t>
            </a:r>
            <a:r>
              <a:rPr lang="en-US"/>
              <a:t> </a:t>
            </a:r>
            <a:r>
              <a:rPr lang="en-US" dirty="0"/>
              <a:t>aims to become a </a:t>
            </a:r>
            <a:r>
              <a:rPr lang="en-US" b="1" dirty="0"/>
              <a:t>key enabler for IEC 62443-compliant embedded devices.</a:t>
            </a:r>
            <a:endParaRPr lang="en-SE" b="1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br>
              <a:rPr lang="en-US" dirty="0"/>
            </a:br>
            <a:r>
              <a:rPr lang="en-US" b="1" dirty="0"/>
              <a:t>Exit strategy:</a:t>
            </a:r>
            <a:r>
              <a:rPr lang="en-US" dirty="0"/>
              <a:t> potential acquisition by a </a:t>
            </a:r>
            <a:r>
              <a:rPr lang="en-US" b="1" dirty="0"/>
              <a:t>security or industrial automation leader.</a:t>
            </a:r>
            <a:endParaRPr lang="en-SE" b="1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br>
              <a:rPr lang="en-US" dirty="0"/>
            </a:br>
            <a:r>
              <a:rPr lang="en-US" b="1" dirty="0"/>
              <a:t>Call to action:</a:t>
            </a:r>
            <a:r>
              <a:rPr lang="en-US" dirty="0"/>
              <a:t> </a:t>
            </a:r>
            <a:r>
              <a:rPr lang="en-US" i="1" dirty="0"/>
              <a:t>Join us in building Sweden’s first</a:t>
            </a:r>
            <a:r>
              <a:rPr lang="en-SE" i="1" dirty="0"/>
              <a:t>/Next(?)</a:t>
            </a:r>
            <a:r>
              <a:rPr lang="en-US" i="1" dirty="0"/>
              <a:t> embedded AI security platform.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FC23C-D799-1B53-8C27-21D2EC77E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gradient.png">
            <a:extLst>
              <a:ext uri="{FF2B5EF4-FFF2-40B4-BE49-F238E27FC236}">
                <a16:creationId xmlns:a16="http://schemas.microsoft.com/office/drawing/2014/main" id="{A9A57A92-F9AA-F07D-83F8-0E6E647C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ai_shield_cyan.png">
            <a:extLst>
              <a:ext uri="{FF2B5EF4-FFF2-40B4-BE49-F238E27FC236}">
                <a16:creationId xmlns:a16="http://schemas.microsoft.com/office/drawing/2014/main" id="{96E7D972-4A3E-AB53-6815-7F6A3E512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952" y="360000"/>
            <a:ext cx="792000" cy="924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16D2CC-6512-BF2F-D74F-DE8E5915EB43}"/>
              </a:ext>
            </a:extLst>
          </p:cNvPr>
          <p:cNvSpPr txBox="1"/>
          <p:nvPr/>
        </p:nvSpPr>
        <p:spPr>
          <a:xfrm>
            <a:off x="2968590" y="1284000"/>
            <a:ext cx="614788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B6C9"/>
                </a:solidFill>
                <a:latin typeface="Arial Rounded MT Bold"/>
              </a:defRPr>
            </a:pPr>
            <a:r>
              <a:rPr lang="en-US" dirty="0"/>
              <a:t>Thanks for your attention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20457-5BEE-7901-9F81-AD74670134F9}"/>
              </a:ext>
            </a:extLst>
          </p:cNvPr>
          <p:cNvSpPr txBox="1"/>
          <p:nvPr/>
        </p:nvSpPr>
        <p:spPr>
          <a:xfrm>
            <a:off x="4991291" y="3013501"/>
            <a:ext cx="22062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r>
              <a:rPr lang="en-US" sz="4800" b="1" dirty="0">
                <a:latin typeface="Arial Black" panose="020B0A04020102020204" pitchFamily="34" charset="0"/>
              </a:rPr>
              <a:t>Q &amp; A</a:t>
            </a:r>
            <a:endParaRPr sz="48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4778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1230</Words>
  <Application>Microsoft Office PowerPoint</Application>
  <PresentationFormat>Custom</PresentationFormat>
  <Paragraphs>163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Ahmad Mostafavi</cp:lastModifiedBy>
  <cp:revision>34</cp:revision>
  <dcterms:created xsi:type="dcterms:W3CDTF">2013-01-27T09:14:16Z</dcterms:created>
  <dcterms:modified xsi:type="dcterms:W3CDTF">2025-11-06T09:59:35Z</dcterms:modified>
  <cp:category/>
</cp:coreProperties>
</file>