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0" r:id="rId6"/>
    <p:sldId id="271" r:id="rId7"/>
    <p:sldId id="268" r:id="rId8"/>
    <p:sldId id="260" r:id="rId9"/>
    <p:sldId id="261" r:id="rId10"/>
    <p:sldId id="262" r:id="rId11"/>
    <p:sldId id="263" r:id="rId12"/>
    <p:sldId id="264" r:id="rId13"/>
    <p:sldId id="266" r:id="rId14"/>
    <p:sldId id="267" r:id="rId15"/>
    <p:sldId id="269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2" y="28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8177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make every IoT device self-defending through embedded AI security.</a:t>
            </a:r>
          </a:p>
          <a:p>
            <a:endParaRPr/>
          </a:p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Regulatory pressure (IEC 62443, NIS2) is a market pull.</a:t>
            </a:r>
          </a:p>
          <a:p>
            <a:endParaRPr/>
          </a:p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EF8FA-7524-5448-F851-753A11301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7866BD-B664-70DF-FD95-ABAF2C47F4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E2B804-89FB-C034-4C9E-5C597487E0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F97A7-4522-4C0D-30FB-E74852B05D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86208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A00A1-B4B6-BC62-D192-C9EF6F631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1E596B-FFC2-46BB-14E1-DAEF905B7C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4DB174-32E7-65C6-79E4-CAC6E24D20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2439-07A7-ECAC-CE10-6C372CB8EB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25836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7EE72-A653-2ED5-5EF4-0191EA6D0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63D59-8222-66C0-12C1-ED654ECC27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95F9C0-42EE-5F3B-33C4-8DCD2F9458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A9B9F-BB9C-09D9-7ECE-8B3B1A463B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37758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Shows academic rigor and industrial readiness.</a:t>
            </a:r>
          </a:p>
          <a:p>
            <a:endParaRPr/>
          </a:p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9DA56-83C0-9E24-8A4E-E33229301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3E5215-79EB-2286-609A-CEFFA4769F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D97879-534C-9136-5280-6B6701EC11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E08E2-9A0E-A9C2-0F36-4B6960099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76866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Picture 1" descr="bg_gradient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0" y="0"/>
            <ns1:ext cx="12188952" cy="6858000"/>
          </ns1:xfrm>
          <ns1:prstGeom prst="rect">
            <ns1:avLst/>
          </ns1:prstGeom>
        </ns0:spPr>
      </ns0:pic>
      <ns0:pic>
        <ns0:nvPicPr>
          <ns0:cNvPr id="3" name="Picture 2" descr="ai_shield_cyan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11036952" y="360000"/>
            <ns1:ext cx="792000" cy="924000"/>
          </ns1:xfrm>
          <ns1:prstGeom prst="rect">
            <ns1:avLst/>
          </ns1:prstGeom>
        </ns0:spPr>
      </ns0:pic>
      <ns0:sp>
        <ns0:nvSpPr>
          <ns0:cNvPr id="4" name="TextBox 3"/>
          <ns0:cNvSpPr txBox="1"/>
          <ns0:nvPr/>
        </ns0:nvSpPr>
        <ns0:spPr>
          <ns1:xfrm>
            <ns1:off x="914400" y="822960"/>
            <ns1:ext cx="8261301" cy="1261884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3800" b="1">
                <ns1:solidFill>
                  <ns1:srgbClr val="00B6C9"/>
                </ns1:solidFill>
                <ns1:latin typeface="Arial Rounded MT Bold"/>
              </ns1:defRPr>
            </ns1:pPr>
            <ns1:r>
              <ns1:rPr dirty="0" err="1"/>
              <ns1:t>TinySentinel</ns1:t>
            </ns1:r>
            <ns1:r>
              <ns1:rPr dirty="0"/>
              <ns1:t>On-Device Intrusion Detection</ns1:t>
            </ns1:r>
          </ns1:p>
          <ns1:p>
            <ns1:pPr algn="ctr">
              <ns1:defRPr sz="3800" b="1">
                <ns1:solidFill>
                  <ns1:srgbClr val="00B6C9"/>
                </ns1:solidFill>
                <ns1:latin typeface="Arial Rounded MT Bold"/>
              </ns1:defRPr>
            </ns1:pPr>
            <ns1:r>
              <ns1:rPr dirty="0"/>
              <ns1:t>for Industrial IoT</ns1:t>
            </ns1:r>
          </ns1:p>
        </ns0:txBody>
      </ns0:sp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Picture 1" descr="bg_gradient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0" y="0"/>
            <ns1:ext cx="12188952" cy="6858000"/>
          </ns1:xfrm>
          <ns1:prstGeom prst="rect">
            <ns1:avLst/>
          </ns1:prstGeom>
        </ns0:spPr>
      </ns0:pic>
      <ns0:pic>
        <ns0:nvPicPr>
          <ns0:cNvPr id="3" name="Picture 2" descr="ai_shield_cyan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11036952" y="360000"/>
            <ns1:ext cx="792000" cy="924000"/>
          </ns1:xfrm>
          <ns1:prstGeom prst="rect">
            <ns1:avLst/>
          </ns1:prstGeom>
        </ns0:spPr>
      </ns0:pic>
      <ns0:sp>
        <ns0:nvSpPr>
          <ns0:cNvPr id="4" name="TextBox 3"/>
          <ns0:cNvSpPr txBox="1"/>
          <ns0:nvPr/>
        </ns0:nvSpPr>
        <ns0:spPr>
          <ns1:xfrm>
            <ns1:off x="914400" y="822960"/>
            <ns1:ext cx="10058400" cy="128016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3800" b="1">
                <ns1:solidFill>
                  <ns1:srgbClr val="00B6C9"/>
                </ns1:solidFill>
                <ns1:latin typeface="Arial Rounded MT Bold"/>
              </ns1:defRPr>
            </ns1:pPr>
            <ns1:r>
              <ns1:t>The Problem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914400" y="1828800"/>
            <ns1:ext cx="9928698" cy="1631216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marL="265113" indent="-265113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dirty="0"/>
              <ns1:t>Critical IIoT devices run on microcontrollers with little room for heavy security.</ns1:t>
            </ns1:r>
            <ns1:r>
              <ns1:rPr lang="en-SE" dirty="0"/>
              <ns1:t>Cloud-only IDS adds latency and fails during connectivity loss.</ns1:t>
            </ns1:r>
            <ns1:r>
              <ns1:rPr lang="en-SE" dirty="0" err="1"/>
              <ns1:t>Malware and anomalies are surging across IoT/IIoT fleets.</ns1:t>
            </ns1:r>
            <ns1:r>
              <ns1:rPr lang="sv-SE" dirty="0"/>
              <ns1:t>Regulations (CRA, NIS2, IEC 62443) demand continuous on-device detection.</ns1:t>
            </ns1:r>
            <ns1:r>
              <ns1:rPr lang="en-SE" dirty="0"/>
              <ns1:t>Vendors lack options that fit RAM/flash and energy budgets.</ns1:t>
            </ns1:r>
          </ns1:p>
          <ns1:p>
            <ns1:pPr marL="265113" indent="-265113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lang="en-SE" dirty="0"/>
              <ns1:t/>
            </ns1:r>
            <ns1:r>
              <ns1:rPr lang="en-US" dirty="0" err="1"/>
              <ns1:t/>
            </ns1:r>
            <ns1:r>
              <ns1:rPr dirty="0" err="1"/>
              <ns1:t/>
            </ns1:r>
            <ns1:r>
              <ns1:rPr lang="en-US" dirty="0"/>
              <ns1:t/>
            </ns1:r>
            <ns1:r>
              <ns1:rPr lang="en-SE" dirty="0"/>
              <ns1:t/>
            </ns1:r>
            <ns1:endParaRPr lang="en-US" dirty="0"/>
          </ns1:p>
          <ns1:p>
            <ns1:pPr marL="265113" indent="-265113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lang="en-SE" dirty="0"/>
              <ns1:t/>
            </ns1:r>
            <ns1:r>
              <ns1:rPr lang="en-US" dirty="0"/>
              <ns1:t/>
            </ns1:r>
            <ns1:r>
              <ns1:rPr lang="en-SE" dirty="0"/>
              <ns1:t/>
            </ns1:r>
            <ns1:r>
              <ns1:rPr lang="en-US" dirty="0"/>
              <ns1:t/>
            </ns1:r>
            <ns1:r>
              <ns1:rPr lang="en-SE" dirty="0"/>
              <ns1:t/>
            </ns1:r>
            <ns1:endParaRPr dirty="0"/>
          </ns1:p>
          <ns1:p>
            <ns1:pPr marL="265113" indent="-265113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lang="en-US" dirty="0"/>
              <ns1:t/>
            </ns1:r>
            <ns1:r>
              <ns1:rPr lang="en-SE" dirty="0"/>
              <ns1:t/>
            </ns1:r>
            <ns1:r>
              <ns1:rPr lang="en-US" dirty="0"/>
              <ns1:t/>
            </ns1:r>
            <ns1:r>
              <ns1:rPr lang="en-SE" dirty="0"/>
              <ns1:t/>
            </ns1:r>
            <ns1:r>
              <ns1:rPr lang="en-US" dirty="0"/>
              <ns1:t/>
            </ns1:r>
          </ns1:p>
        </ns0:txBody>
      </ns0:sp>
      <ns0:sp>
        <ns0:nvSpPr>
          <ns0:cNvPr id="6" name="TextBox 5">
            <ns1:extLst>
              <ns1:ext uri="{FF2B5EF4-FFF2-40B4-BE49-F238E27FC236}">
                <ns3:creationId id="{1A67ECE6-CC2A-5823-6F83-790870CC1298}"/>
              </ns1:ext>
            </ns1:extLst>
          </ns0:cNvPr>
          <ns0:cNvSpPr txBox="1"/>
          <ns0:nvPr/>
        </ns0:nvSpPr>
        <ns0:spPr>
          <ns1:xfrm>
            <ns1:off x="1140977" y="5235547"/>
            <ns1:ext cx="8210389" cy="369332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r>
              <ns1:rPr lang="en-SE" dirty="0"/>
              <ns1:t/>
            </ns1:r>
            <ns1:r>
              <ns1:rPr lang="sv-SE" dirty="0"/>
              <ns1:t/>
            </ns1:r>
            <ns1:endParaRPr lang="en-SE" dirty="0"/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Picture 1" descr="bg_gradient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0" y="0"/>
            <ns1:ext cx="12188952" cy="6858000"/>
          </ns1:xfrm>
          <ns1:prstGeom prst="rect">
            <ns1:avLst/>
          </ns1:prstGeom>
        </ns0:spPr>
      </ns0:pic>
      <ns0:pic>
        <ns0:nvPicPr>
          <ns0:cNvPr id="3" name="Picture 2" descr="ai_shield_cyan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11036952" y="360000"/>
            <ns1:ext cx="792000" cy="924000"/>
          </ns1:xfrm>
          <ns1:prstGeom prst="rect">
            <ns1:avLst/>
          </ns1:prstGeom>
        </ns0:spPr>
      </ns0:pic>
      <ns0:sp>
        <ns0:nvSpPr>
          <ns0:cNvPr id="4" name="TextBox 3"/>
          <ns0:cNvSpPr txBox="1"/>
          <ns0:nvPr/>
        </ns0:nvSpPr>
        <ns0:spPr>
          <ns1:xfrm>
            <ns1:off x="914400" y="822960"/>
            <ns1:ext cx="10058400" cy="128016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3800" b="1">
                <ns1:solidFill>
                  <ns1:srgbClr val="00B6C9"/>
                </ns1:solidFill>
                <ns1:latin typeface="Arial Rounded MT Bold"/>
              </ns1:defRPr>
            </ns1:pPr>
            <ns1:r>
              <ns1:t>Market Opportunity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914400" y="1828800"/>
            <ns1:ext cx="10515600" cy="1323439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marL="342900" indent="-342900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lang="en-US" sz="2000" dirty="0"/>
              <ns1:t>IoT/IIoT security projected $100B+ by 2030 with industrial and energy leading.</ns1:t>
            </ns1:r>
            <ns1:r>
              <ns1:rPr dirty="0"/>
              <ns1:t>Embedded security spend accelerating to meet CRA/NIS2/IEC 62443 compliance.</ns1:t>
            </ns1:r>
          </ns1:p>
          <ns1:p>
            <ns1:pPr marL="342900" indent="-342900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dirty="0"/>
              <ns1:t>OEMs, integrators, and edge platform vendors need on-device IDS.</ns1:t>
            </ns1:r>
          </ns1:p>
          <ns1:p>
            <ns1:pPr marL="342900" indent="-342900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dirty="0"/>
              <ns1:t>Early adopters seek fast, privacy-first detection at the edge.</ns1:t>
            </ns1:r>
            <ns1:r>
              <ns1:rPr lang="en-US" dirty="0"/>
              <ns1:t/>
            </ns1:r>
            <ns1:endParaRPr dirty="0"/>
          </ns1:p>
        </ns0:txBody>
      </ns0:sp>
      <ns0:sp>
        <ns0:nvSpPr>
          <ns0:cNvPr id="6" name="TextBox 5">
            <ns1:extLst>
              <ns1:ext uri="{FF2B5EF4-FFF2-40B4-BE49-F238E27FC236}">
                <ns3:creationId id="{37130445-3A51-6351-B86D-A0C1C68E44FA}"/>
              </ns1:ext>
            </ns1:extLst>
          </ns0:cNvPr>
          <ns0:cNvSpPr txBox="1"/>
          <ns0:nvPr/>
        </ns0:nvSpPr>
        <ns0:spPr>
          <ns1:xfrm>
            <ns1:off x="1439186" y="4492487"/>
            <ns1:ext cx="9080178" cy="369332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r>
              <ns1:rPr lang="en-SE" dirty="0"/>
              <ns1:t/>
            </ns1:r>
            <ns1:r>
              <ns1:rPr lang="sv-SE" dirty="0"/>
              <ns1:t/>
            </ns1:r>
            <ns1:endParaRPr lang="en-SE" dirty="0"/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Picture 1" descr="bg_gradient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0" y="0"/>
            <ns1:ext cx="12188952" cy="6858000"/>
          </ns1:xfrm>
          <ns1:prstGeom prst="rect">
            <ns1:avLst/>
          </ns1:prstGeom>
        </ns0:spPr>
      </ns0:pic>
      <ns0:pic>
        <ns0:nvPicPr>
          <ns0:cNvPr id="3" name="Picture 2" descr="ai_shield_cyan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11036952" y="360000"/>
            <ns1:ext cx="792000" cy="924000"/>
          </ns1:xfrm>
          <ns1:prstGeom prst="rect">
            <ns1:avLst/>
          </ns1:prstGeom>
        </ns0:spPr>
      </ns0:pic>
      <ns0:sp>
        <ns0:nvSpPr>
          <ns0:cNvPr id="4" name="TextBox 3"/>
          <ns0:cNvSpPr txBox="1"/>
          <ns0:nvPr/>
        </ns0:nvSpPr>
        <ns0:spPr>
          <ns1:xfrm>
            <ns1:off x="914400" y="822960"/>
            <ns1:ext cx="4238661" cy="677108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3800" b="1">
                <ns1:solidFill>
                  <ns1:srgbClr val="00B6C9"/>
                </ns1:solidFill>
                <ns1:latin typeface="Arial Rounded MT Bold"/>
              </ns1:defRPr>
            </ns1:pPr>
            <ns1:r>
              <ns1:rPr lang="en-US" dirty="0"/>
              <ns1:t>Today’s Solutions</ns1:t>
            </ns1:r>
            <ns1:r>
              <ns1:rPr dirty="0"/>
              <ns1:t>Cloud IDS adds latency and depends on constant connectivity.</ns1:t>
            </ns1:r>
            <ns1:r>
              <ns1:rPr lang="en-US" dirty="0"/>
              <ns1:t>Sensitive telemetry leaves the device, raising privacy and compliance risk.</ns1:t>
            </ns1:r>
            <ns1:endParaRPr dirty="0"/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914400" y="1828800"/>
            <ns1:ext cx="10515600" cy="1323439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marL="265113" indent="-265113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lang="sv-SE" dirty="0"/>
              <ns1:t/>
            </ns1:r>
          </ns1:p>
          <ns1:p>
            <ns1:pPr marL="722313" lvl="1" indent="-265113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lang="en-SE" dirty="0"/>
              <ns1:t/>
            </ns1:r>
            <ns1:r>
              <ns1:rPr lang="sv-SE" dirty="0"/>
              <ns1:t/>
            </ns1:r>
          </ns1:p>
          <ns1:p>
            <ns1:pPr marL="722313" lvl="1" indent="-265113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lang="sv-SE" dirty="0"/>
              <ns1:t/>
            </ns1:r>
          </ns1:p>
          <ns1:p>
            <ns1:pPr marL="722313" lvl="1" indent="-265113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lang="en-SE" dirty="0"/>
              <ns1:t/>
            </ns1:r>
            <ns1:r>
              <ns1:rPr lang="en-SE" dirty="0" err="1"/>
              <ns1:t/>
            </ns1:r>
            <ns1:r>
              <ns1:rPr lang="sv-SE" dirty="0"/>
              <ns1:t/>
            </ns1:r>
            <ns1:r>
              <ns1:rPr lang="en-SE" dirty="0" err="1"/>
              <ns1:t/>
            </ns1:r>
            <ns1:r>
              <ns1:rPr lang="en-SE" dirty="0"/>
              <ns1:t/>
            </ns1:r>
            <ns1:r>
              <ns1:rPr lang="sv-SE" dirty="0"/>
              <ns1:t/>
            </ns1:r>
          </ns1:p>
        </ns0:txBody>
      </ns0:sp>
    </ns0:spTree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spTree>
      <ns0:nvGrpSpPr>
        <ns0:cNvPr id="1" name="">
          <ns1:extLst>
            <ns1:ext uri="{FF2B5EF4-FFF2-40B4-BE49-F238E27FC236}">
              <ns2:creationId id="{2220EC03-CC37-E5BC-C4B7-1AA4E05084B9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Picture 1" descr="bg_gradient.png">
            <ns1:extLst>
              <ns1:ext uri="{FF2B5EF4-FFF2-40B4-BE49-F238E27FC236}">
                <ns2:creationId id="{F1BF90B5-179C-415D-FB24-23CB7115B9D8}"/>
              </ns1:ext>
            </ns1:extLst>
          </ns0:cNvPr>
          <ns0:cNvPicPr>
            <ns1:picLocks noChangeAspect="1"/>
          </ns0:cNvPicPr>
          <ns0:nvPr/>
        </ns0:nvPicPr>
        <ns0:blipFill>
          <ns1:blip ns3:embed="rId3"/>
          <ns1:stretch>
            <ns1:fillRect/>
          </ns1:stretch>
        </ns0:blipFill>
        <ns0:spPr>
          <ns1:xfrm>
            <ns1:off x="0" y="0"/>
            <ns1:ext cx="12188952" cy="6858000"/>
          </ns1:xfrm>
          <ns1:prstGeom prst="rect">
            <ns1:avLst/>
          </ns1:prstGeom>
        </ns0:spPr>
      </ns0:pic>
      <ns0:pic>
        <ns0:nvPicPr>
          <ns0:cNvPr id="3" name="Picture 2" descr="ai_shield_cyan.png">
            <ns1:extLst>
              <ns1:ext uri="{FF2B5EF4-FFF2-40B4-BE49-F238E27FC236}">
                <ns2:creationId id="{6928627F-C69C-DAD4-E0C8-85EACEBB050C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11036952" y="360000"/>
            <ns1:ext cx="792000" cy="924000"/>
          </ns1:xfrm>
          <ns1:prstGeom prst="rect">
            <ns1:avLst/>
          </ns1:prstGeom>
        </ns0:spPr>
      </ns0:pic>
      <ns0:sp>
        <ns0:nvSpPr>
          <ns0:cNvPr id="4" name="TextBox 3">
            <ns1:extLst>
              <ns1:ext uri="{FF2B5EF4-FFF2-40B4-BE49-F238E27FC236}">
                <ns2:creationId id="{11CC2F95-E474-F0F9-20E7-F1B74FA414F3}"/>
              </ns1:ext>
            </ns1:extLst>
          </ns0:cNvPr>
          <ns0:cNvSpPr txBox="1"/>
          <ns0:nvPr/>
        </ns0:nvSpPr>
        <ns0:spPr>
          <ns1:xfrm>
            <ns1:off x="914400" y="822960"/>
            <ns1:ext cx="6800003" cy="677108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3800" b="1">
                <ns1:solidFill>
                  <ns1:srgbClr val="00B6C9"/>
                </ns1:solidFill>
                <ns1:latin typeface="Arial Rounded MT Bold"/>
              </ns1:defRPr>
            </ns1:pPr>
            <ns1:r>
              <ns1:rPr lang="en-US" dirty="0"/>
              <ns1:t>Today’s Solutions - Local/Gateway</ns1:t>
            </ns1:r>
            <ns1:r>
              <ns1:rPr dirty="0"/>
              <ns1:t>Local servers add cost and complexity for large fleets.</ns1:t>
            </ns1:r>
            <ns1:r>
              <ns1:rPr lang="en-US" dirty="0"/>
              <ns1:t>Not viable for low-margin or distributed deployments.</ns1:t>
            </ns1:r>
            <ns1:endParaRPr dirty="0"/>
          </ns1:p>
        </ns0:txBody>
      </ns0:sp>
      <ns0:sp>
        <ns0:nvSpPr>
          <ns0:cNvPr id="5" name="TextBox 4">
            <ns1:extLst>
              <ns1:ext uri="{FF2B5EF4-FFF2-40B4-BE49-F238E27FC236}">
                <ns2:creationId id="{DA475768-A6E7-DBBC-487C-20083E817ECB}"/>
              </ns1:ext>
            </ns1:extLst>
          </ns0:cNvPr>
          <ns0:cNvSpPr txBox="1"/>
          <ns0:nvPr/>
        </ns0:nvSpPr>
        <ns0:spPr>
          <ns1:xfrm>
            <ns1:off x="914400" y="1828800"/>
            <ns1:ext cx="10515600" cy="1015663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marL="265113" indent="-265113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lang="sv-SE" dirty="0"/>
              <ns1:t>Still leaves device-level blind spots.</ns1:t>
            </ns1:r>
          </ns1:p>
          <ns1:p>
            <ns1:pPr marL="722313" lvl="1" indent="-265113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lang="en-SE" dirty="0"/>
              <ns1:t/>
            </ns1:r>
            <ns1:endParaRPr lang="sv-SE" dirty="0"/>
          </ns1:p>
          <ns1:p>
            <ns1:pPr marL="722313" lvl="1" indent="-265113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lang="en-SE" dirty="0"/>
              <ns1:t/>
            </ns1:r>
            <ns1:r>
              <ns1:rPr lang="sv-SE" dirty="0"/>
              <ns1:t/>
            </ns1:r>
            <ns1:r>
              <ns1:rPr lang="en-SE" dirty="0" err="1"/>
              <ns1:t/>
            </ns1:r>
            <ns1:r>
              <ns1:rPr lang="en-SE" dirty="0"/>
              <ns1:t/>
            </ns1:r>
            <ns1:endParaRPr lang="sv-SE" dirty="0"/>
          </ns1:p>
        </ns0:txBody>
      </ns0:sp>
    </ns0:spTree>
    <ns0:extLst>
      <ns0:ext uri="{BB962C8B-B14F-4D97-AF65-F5344CB8AC3E}">
        <ns4:creationId val="1695083233"/>
      </ns0:ext>
    </ns0:extLst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spTree>
      <ns0:nvGrpSpPr>
        <ns0:cNvPr id="1" name="">
          <ns1:extLst>
            <ns1:ext uri="{FF2B5EF4-FFF2-40B4-BE49-F238E27FC236}">
              <ns2:creationId id="{E08553B7-CF3E-F6E5-F05F-EE81093EA37D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Picture 1" descr="bg_gradient.png">
            <ns1:extLst>
              <ns1:ext uri="{FF2B5EF4-FFF2-40B4-BE49-F238E27FC236}">
                <ns2:creationId id="{9B15045F-FA6B-C535-C0B8-624AF1774DD1}"/>
              </ns1:ext>
            </ns1:extLst>
          </ns0:cNvPr>
          <ns0:cNvPicPr>
            <ns1:picLocks noChangeAspect="1"/>
          </ns0:cNvPicPr>
          <ns0:nvPr/>
        </ns0:nvPicPr>
        <ns0:blipFill>
          <ns1:blip ns3:embed="rId3"/>
          <ns1:stretch>
            <ns1:fillRect/>
          </ns1:stretch>
        </ns0:blipFill>
        <ns0:spPr>
          <ns1:xfrm>
            <ns1:off x="0" y="0"/>
            <ns1:ext cx="12188952" cy="6858000"/>
          </ns1:xfrm>
          <ns1:prstGeom prst="rect">
            <ns1:avLst/>
          </ns1:prstGeom>
        </ns0:spPr>
      </ns0:pic>
      <ns0:pic>
        <ns0:nvPicPr>
          <ns0:cNvPr id="3" name="Picture 2" descr="ai_shield_cyan.png">
            <ns1:extLst>
              <ns1:ext uri="{FF2B5EF4-FFF2-40B4-BE49-F238E27FC236}">
                <ns2:creationId id="{92ED01FA-D0C3-7853-8DD7-99096AA92AC8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11036952" y="360000"/>
            <ns1:ext cx="792000" cy="924000"/>
          </ns1:xfrm>
          <ns1:prstGeom prst="rect">
            <ns1:avLst/>
          </ns1:prstGeom>
        </ns0:spPr>
      </ns0:pic>
      <ns0:sp>
        <ns0:nvSpPr>
          <ns0:cNvPr id="4" name="TextBox 3">
            <ns1:extLst>
              <ns1:ext uri="{FF2B5EF4-FFF2-40B4-BE49-F238E27FC236}">
                <ns2:creationId id="{8980423B-0D5D-B845-4AE3-DCD44C647660}"/>
              </ns1:ext>
            </ns1:extLst>
          </ns0:cNvPr>
          <ns0:cNvSpPr txBox="1"/>
          <ns0:nvPr/>
        </ns0:nvSpPr>
        <ns0:spPr>
          <ns1:xfrm>
            <ns1:off x="914400" y="822960"/>
            <ns1:ext cx="6660541" cy="677108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3800" b="1">
                <ns1:solidFill>
                  <ns1:srgbClr val="00B6C9"/>
                </ns1:solidFill>
                <ns1:latin typeface="Arial Rounded MT Bold"/>
              </ns1:defRPr>
            </ns1:pPr>
            <ns1:r>
              <ns1:rPr lang="en-US" dirty="0"/>
              <ns1:t>Today’s Solutions - On-Device Gaps</ns1:t>
            </ns1:r>
            <ns1:r>
              <ns1:rPr dirty="0"/>
              <ns1:t>Rule-based IDS cannot adapt to evolving attacks.</ns1:t>
            </ns1:r>
            <ns1:r>
              <ns1:rPr lang="en-US" dirty="0"/>
              <ns1:t>Traditional ML models are too heavy for MCUs.</ns1:t>
            </ns1:r>
            <ns1:endParaRPr dirty="0"/>
          </ns1:p>
        </ns0:txBody>
      </ns0:sp>
      <ns0:sp>
        <ns0:nvSpPr>
          <ns0:cNvPr id="5" name="TextBox 4">
            <ns1:extLst>
              <ns1:ext uri="{FF2B5EF4-FFF2-40B4-BE49-F238E27FC236}">
                <ns2:creationId id="{D2C9280C-B001-F1BE-6425-582522B8342C}"/>
              </ns1:ext>
            </ns1:extLst>
          </ns0:cNvPr>
          <ns0:cNvSpPr txBox="1"/>
          <ns0:nvPr/>
        </ns0:nvSpPr>
        <ns0:spPr>
          <ns1:xfrm>
            <ns1:off x="914400" y="1828800"/>
            <ns1:ext cx="10515600" cy="1015663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marL="265113" indent="-265113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lang="en-SE" dirty="0"/>
              <ns1:t>Vendors worry about timing jitter, RAM/flash use, and energy.</ns1:t>
            </ns1:r>
            <ns1:r>
              <ns1:rPr lang="sv-SE" dirty="0"/>
              <ns1:t>Need privacy-first, lightweight, and compliant detection.</ns1:t>
            </ns1:r>
            <ns1:r>
              <ns1:rPr lang="en-SE" dirty="0"/>
              <ns1:t/>
            </ns1:r>
            <ns1:r>
              <ns1:rPr lang="sv-SE" dirty="0"/>
              <ns1:t/>
            </ns1:r>
            <ns1:r>
              <ns1:rPr lang="en-SE" dirty="0"/>
              <ns1:t/>
            </ns1:r>
            <ns1:r>
              <ns1:rPr lang="sv-SE" dirty="0"/>
              <ns1:t/>
            </ns1:r>
            <ns1:r>
              <ns1:rPr lang="en-SE" dirty="0"/>
              <ns1:t/>
            </ns1:r>
            <ns1:r>
              <ns1:rPr lang="sv-SE" dirty="0"/>
              <ns1:t/>
            </ns1:r>
          </ns1:p>
          <ns1:p>
            <ns1:pPr marL="722313" lvl="1" indent="-265113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lang="sv-SE" dirty="0"/>
              <ns1:t/>
            </ns1:r>
            <ns1:r>
              <ns1:rPr lang="en-SE" dirty="0"/>
              <ns1:t/>
            </ns1:r>
            <ns1:r>
              <ns1:rPr lang="sv-SE" dirty="0"/>
              <ns1:t/>
            </ns1:r>
            <ns1:r>
              <ns1:rPr lang="en-SE" dirty="0"/>
              <ns1:t/>
            </ns1:r>
            <ns1:r>
              <ns1:rPr lang="sv-SE" dirty="0"/>
              <ns1:t/>
            </ns1:r>
            <ns1:r>
              <ns1:rPr lang="en-SE" dirty="0"/>
              <ns1:t/>
            </ns1:r>
            <ns1:r>
              <ns1:rPr lang="sv-SE" dirty="0"/>
              <ns1:t/>
            </ns1:r>
          </ns1:p>
          <ns1:p>
            <ns1:pPr marL="722313" lvl="1" indent="-265113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lang="en-SE" dirty="0"/>
              <ns1:t/>
            </ns1:r>
            <ns1:r>
              <ns1:rPr lang="sv-SE" dirty="0"/>
              <ns1:t/>
            </ns1:r>
            <ns1:r>
              <ns1:rPr lang="en-SE" dirty="0"/>
              <ns1:t/>
            </ns1:r>
            <ns1:r>
              <ns1:rPr lang="sv-SE" dirty="0"/>
              <ns1:t/>
            </ns1:r>
            <ns1:r>
              <ns1:rPr lang="en-SE" dirty="0"/>
              <ns1:t/>
            </ns1:r>
            <ns1:r>
              <ns1:rPr lang="sv-SE" dirty="0"/>
              <ns1:t/>
            </ns1:r>
          </ns1:p>
        </ns0:txBody>
      </ns0:sp>
    </ns0:spTree>
    <ns0:extLst>
      <ns0:ext uri="{BB962C8B-B14F-4D97-AF65-F5344CB8AC3E}">
        <ns4:creationId val="3884166158"/>
      </ns0:ext>
    </ns0:extLst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spTree>
      <ns0:nvGrpSpPr>
        <ns0:cNvPr id="1" name="">
          <ns1:extLst>
            <ns1:ext uri="{FF2B5EF4-FFF2-40B4-BE49-F238E27FC236}">
              <ns2:creationId id="{9F9A06DC-C53D-9326-B039-186A74DE7456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Picture 1" descr="bg_gradient.png">
            <ns1:extLst>
              <ns1:ext uri="{FF2B5EF4-FFF2-40B4-BE49-F238E27FC236}">
                <ns2:creationId id="{56B8C60D-5715-6B75-C57E-9182A41CC6A1}"/>
              </ns1:ext>
            </ns1:extLst>
          </ns0:cNvPr>
          <ns0:cNvPicPr>
            <ns1:picLocks noChangeAspect="1"/>
          </ns0:cNvPicPr>
          <ns0:nvPr/>
        </ns0:nvPicPr>
        <ns0:blipFill>
          <ns1:blip ns3:embed="rId3"/>
          <ns1:stretch>
            <ns1:fillRect/>
          </ns1:stretch>
        </ns0:blipFill>
        <ns0:spPr>
          <ns1:xfrm>
            <ns1:off x="0" y="0"/>
            <ns1:ext cx="12188952" cy="6858000"/>
          </ns1:xfrm>
          <ns1:prstGeom prst="rect">
            <ns1:avLst/>
          </ns1:prstGeom>
        </ns0:spPr>
      </ns0:pic>
      <ns0:pic>
        <ns0:nvPicPr>
          <ns0:cNvPr id="3" name="Picture 2" descr="ai_shield_cyan.png">
            <ns1:extLst>
              <ns1:ext uri="{FF2B5EF4-FFF2-40B4-BE49-F238E27FC236}">
                <ns2:creationId id="{C7AD0334-C008-C668-86DB-C1BC97FDFC12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11036952" y="360000"/>
            <ns1:ext cx="792000" cy="924000"/>
          </ns1:xfrm>
          <ns1:prstGeom prst="rect">
            <ns1:avLst/>
          </ns1:prstGeom>
        </ns0:spPr>
      </ns0:pic>
      <ns0:sp>
        <ns0:nvSpPr>
          <ns0:cNvPr id="4" name="TextBox 3">
            <ns1:extLst>
              <ns1:ext uri="{FF2B5EF4-FFF2-40B4-BE49-F238E27FC236}">
                <ns2:creationId id="{9FA2865F-C393-6E6B-BB82-F8FEF10F97DD}"/>
              </ns1:ext>
            </ns1:extLst>
          </ns0:cNvPr>
          <ns0:cNvSpPr txBox="1"/>
          <ns0:nvPr/>
        </ns0:nvSpPr>
        <ns0:spPr>
          <ns1:xfrm>
            <ns1:off x="914400" y="822960"/>
            <ns1:ext cx="5541004" cy="677108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3800" b="1">
                <ns1:solidFill>
                  <ns1:srgbClr val="00B6C9"/>
                </ns1:solidFill>
                <ns1:latin typeface="Arial Rounded MT Bold"/>
              </ns1:defRPr>
            </ns1:pPr>
            <ns1:r>
              <ns1:rPr lang="en-US" dirty="0"/>
              <ns1:t>Our Solution: TinySentinel</ns1:t>
            </ns1:r>
            <ns1:r>
              <ns1:rPr dirty="0"/>
              <ns1:t>On-device ML IDS built for microcontroller-class hardware.</ns1:t>
            </ns1:r>
          </ns1:p>
        </ns0:txBody>
      </ns0:sp>
      <ns0:sp>
        <ns0:nvSpPr>
          <ns0:cNvPr id="5" name="TextBox 4">
            <ns1:extLst>
              <ns1:ext uri="{FF2B5EF4-FFF2-40B4-BE49-F238E27FC236}">
                <ns2:creationId id="{13A436A8-7FEE-50ED-B41D-074D24C33561}"/>
              </ns1:ext>
            </ns1:extLst>
          </ns0:cNvPr>
          <ns0:cNvSpPr txBox="1"/>
          <ns0:nvPr/>
        </ns0:nvSpPr>
        <ns0:spPr>
          <ns1:xfrm>
            <ns1:off x="917352" y="2350617"/>
            <ns1:ext cx="10515600" cy="193899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lang="en-US" dirty="0"/>
              <ns1:t>&lt;256 KB model footprint with quantization and pruning.</ns1:t>
            </ns1:r>
          </ns1:p>
          <ns1:p>
            <ns1:pPr marL="800100" lvl="1" indent="-342900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lang="en-US" dirty="0"/>
              <ns1:t>&lt;10 ms inference to stay within control loops.</ns1:t>
            </ns1:r>
          </ns1:p>
          <ns1:p>
            <ns1:pPr marL="800100" lvl="1" indent="-342900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lang="en-SE" dirty="0"/>
              <ns1:t>98%+ detection accuracy in bench tests.</ns1:t>
            </ns1:r>
            <ns1:r>
              <ns1:rPr lang="en-US" dirty="0" err="1"/>
              <ns1:t>Data stays local for privacy and compliance readiness.</ns1:t>
            </ns1:r>
            <ns1:r>
              <ns1:rPr lang="en-SE" dirty="0"/>
              <ns1:t>Plug-and-play C/C++ SDK with hardware-in-loop validation.</ns1:t>
            </ns1:r>
            <ns1:r>
              <ns1:rPr lang="en-US" dirty="0"/>
              <ns1:t>Aligned with IEC 62443/CRA/NIS2 expectations.</ns1:t>
            </ns1:r>
            <ns1:r>
              <ns1:rPr lang="en-SE" dirty="0"/>
              <ns1:t/>
            </ns1:r>
            <ns1:r>
              <ns1:rPr lang="en-US" dirty="0"/>
              <ns1:t/>
            </ns1:r>
          </ns1:p>
          <ns1:p>
            <ns1:pPr marL="800100" lvl="1" indent="-342900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lang="en-SE" dirty="0"/>
              <ns1:t/>
            </ns1:r>
            <ns1:r>
              <ns1:rPr lang="en-SE" dirty="0" err="1"/>
              <ns1:t/>
            </ns1:r>
            <ns1:r>
              <ns1:rPr lang="sv-SE" dirty="0"/>
              <ns1:t/>
            </ns1:r>
            <ns1:r>
              <ns1:rPr lang="en-SE" dirty="0"/>
              <ns1:t/>
            </ns1:r>
            <ns1:r>
              <ns1:rPr lang="en-US" dirty="0"/>
              <ns1:t/>
            </ns1:r>
            <ns1:r>
              <ns1:rPr lang="en-SE" dirty="0"/>
              <ns1:t/>
            </ns1:r>
            <ns1:r>
              <ns1:rPr dirty="0"/>
              <ns1:t/>
            </ns1:r>
            <ns1:endParaRPr lang="en-US" dirty="0"/>
          </ns1:p>
          <ns1:p>
            <ns1:pPr marL="800100" lvl="1" indent="-342900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dirty="0"/>
              <ns1:t/>
            </ns1:r>
            <ns1:endParaRPr lang="en-US" dirty="0"/>
          </ns1:p>
          <ns1:p>
            <ns1:pPr marL="800100" lvl="1" indent="-342900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lang="en-US" dirty="0"/>
              <ns1:t/>
            </ns1:r>
            <ns1:r>
              <ns1:rPr dirty="0"/>
              <ns1:t/>
            </ns1:r>
          </ns1:p>
        </ns0:txBody>
      </ns0:sp>
      <ns0:sp>
        <ns0:nvSpPr>
          <ns0:cNvPr id="6" name="TextBox 5">
            <ns1:extLst>
              <ns1:ext uri="{FF2B5EF4-FFF2-40B4-BE49-F238E27FC236}">
                <ns2:creationId id="{A59F58F5-7FD2-23D7-ECF1-BB7429002A79}"/>
              </ns1:ext>
            </ns1:extLst>
          </ns0:cNvPr>
          <ns0:cNvSpPr txBox="1"/>
          <ns0:nvPr/>
        </ns0:nvSpPr>
        <ns0:spPr>
          <ns1:xfrm>
            <ns1:off x="2460807" y="1666426"/>
            <ns1:ext cx="10515600" cy="461665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sz="2400" b="1" dirty="0" err="1"/>
              <ns1:t/>
            </ns1:r>
            <ns1:r>
              <ns1:rPr sz="2400" b="1" dirty="0"/>
              <ns1:t/>
            </ns1:r>
            <ns1:r>
              <ns1:rPr lang="en-US" sz="2400" b="1" dirty="0"/>
              <ns1:t/>
            </ns1:r>
            <ns1:r>
              <ns1:rPr sz="2400" b="1" dirty="0"/>
              <ns1:t/>
            </ns1:r>
          </ns1:p>
        </ns0:txBody>
      </ns0:sp>
    </ns0:spTree>
    <ns0:extLst>
      <ns0:ext uri="{BB962C8B-B14F-4D97-AF65-F5344CB8AC3E}">
        <ns4:creationId val="873269990"/>
      </ns0:ext>
    </ns0:extLst>
  </ns0:cSld>
  <ns0:clrMapOvr>
    <ns1:masterClrMapping/>
  </ns0:clrMapOvr>
</ns0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Picture 1" descr="bg_gradient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0" y="0"/>
            <ns1:ext cx="12188952" cy="6858000"/>
          </ns1:xfrm>
          <ns1:prstGeom prst="rect">
            <ns1:avLst/>
          </ns1:prstGeom>
        </ns0:spPr>
      </ns0:pic>
      <ns0:pic>
        <ns0:nvPicPr>
          <ns0:cNvPr id="3" name="Picture 2" descr="ai_shield_cyan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11036952" y="360000"/>
            <ns1:ext cx="792000" cy="924000"/>
          </ns1:xfrm>
          <ns1:prstGeom prst="rect">
            <ns1:avLst/>
          </ns1:prstGeom>
        </ns0:spPr>
      </ns0:pic>
      <ns0:sp>
        <ns0:nvSpPr>
          <ns0:cNvPr id="4" name="TextBox 3"/>
          <ns0:cNvSpPr txBox="1"/>
          <ns0:nvPr/>
        </ns0:nvSpPr>
        <ns0:spPr>
          <ns1:xfrm>
            <ns1:off x="914400" y="822960"/>
            <ns1:ext cx="10058400" cy="128016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3800" b="1">
                <ns1:solidFill>
                  <ns1:srgbClr val="00B6C9"/>
                </ns1:solidFill>
                <ns1:latin typeface="Arial Rounded MT Bold"/>
              </ns1:defRPr>
            </ns1:pPr>
            <ns1:r>
              <ns1:t>Proof of Feasibility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914400" y="1828800"/>
            <ns1:ext cx="10515600" cy="1015663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marL="342900" indent="-342900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dirty="0"/>
              <ns1:t>Research-led at Mälardalen University and partners.</ns1:t>
            </ns1:r>
            <ns1:r>
              <ns1:rPr lang="sv-SE" dirty="0"/>
              <ns1:t>Bench accuracy 98.7% on RISC-V/ARM-class targets.</ns1:t>
            </ns1:r>
            <ns1:r>
              <ns1:rPr lang="en-SE" dirty="0"/>
              <ns1:t>Hardware-in-the-loop validation underway.</ns1:t>
            </ns1:r>
            <ns1:r>
              <ns1:rPr dirty="0"/>
              <ns1:t>IEEE conference submission in review.</ns1:t>
            </ns1:r>
            <ns1:r>
              <ns1:rPr dirty="0" err="1"/>
              <ns1:t/>
            </ns1:r>
            <ns1:r>
              <ns1:rPr dirty="0"/>
              <ns1:t/>
            </ns1:r>
          </ns1:p>
          <ns1:p>
            <ns1:pPr marL="342900" indent="-342900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dirty="0"/>
              <ns1:t/>
            </ns1:r>
          </ns1:p>
          <ns1:p>
            <ns1:pPr marL="342900" indent="-342900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dirty="0"/>
              <ns1:t/>
            </ns1:r>
            <ns1:endParaRPr lang="en-US" dirty="0"/>
          </ns1:p>
        </ns0:txBody>
      </ns0:sp>
    </ns0:spTree>
  </ns0:cSld>
  <ns0:clrMapOvr>
    <ns1:masterClrMapping/>
  </ns0:clrMapOvr>
</ns0:sld>
</file>

<file path=ppt/slides/slide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Picture 1" descr="bg_gradient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0" y="0"/>
            <ns1:ext cx="12188952" cy="6858000"/>
          </ns1:xfrm>
          <ns1:prstGeom prst="rect">
            <ns1:avLst/>
          </ns1:prstGeom>
        </ns0:spPr>
      </ns0:pic>
      <ns0:pic>
        <ns0:nvPicPr>
          <ns0:cNvPr id="3" name="Picture 2" descr="ai_shield_cyan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11036952" y="360000"/>
            <ns1:ext cx="792000" cy="924000"/>
          </ns1:xfrm>
          <ns1:prstGeom prst="rect">
            <ns1:avLst/>
          </ns1:prstGeom>
        </ns0:spPr>
      </ns0:pic>
      <ns0:sp>
        <ns0:nvSpPr>
          <ns0:cNvPr id="4" name="TextBox 3"/>
          <ns0:cNvSpPr txBox="1"/>
          <ns0:nvPr/>
        </ns0:nvSpPr>
        <ns0:spPr>
          <ns1:xfrm>
            <ns1:off x="914400" y="822960"/>
            <ns1:ext cx="10058400" cy="128016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3800" b="1">
                <ns1:solidFill>
                  <ns1:srgbClr val="00B6C9"/>
                </ns1:solidFill>
                <ns1:latin typeface="Arial Rounded MT Bold"/>
              </ns1:defRPr>
            </ns1:pPr>
            <ns1:r>
              <ns1:t>Technology Roadmap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914400" y="1828800"/>
            <ns1:ext cx="10515600" cy="1323439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b="1" dirty="0"/>
              <ns1:t>Phase</ns1:t>
            </ns1:r>
            <ns1:r>
              <ns1:rPr lang="en-US" b="1" dirty="0"/>
              <ns1:t/>
            </ns1:r>
            <ns1:r>
              <ns1:rPr b="1" dirty="0"/>
              <ns1:t>Goal</ns1:t>
            </ns1:r>
            <ns1:r>
              <ns1:rPr lang="en-US" b="1" dirty="0"/>
              <ns1:t/>
            </ns1:r>
            <ns1:r>
              <ns1:rPr b="1" dirty="0"/>
              <ns1:t>Deliverable</ns1:t>
            </ns1:r>
            <ns1:r>
              <ns1:rPr lang="en-US" b="1" dirty="0"/>
              <ns1:t>:</ns1:t>
            </ns1:r>
            <ns1:endParaRPr b="1" dirty="0"/>
          </ns1:p>
          <ns1:p>
            <ns1:pPr marL="800100" lvl="1" indent="-342900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dirty="0"/>
              <ns1:t>Q1</ns1:t>
            </ns1:r>
            <ns1:r>
              <ns1:rPr lang="en-US" dirty="0"/>
              <ns1:t>SDK core</ns1:t>
            </ns1:r>
            <ns1:r>
              <ns1:rPr dirty="0"/>
              <ns1:t>ARM prototype</ns1:t>
            </ns1:r>
            <ns1:r>
              <ns1:rPr lang="en-US" dirty="0"/>
              <ns1:t>→</ns1:t>
            </ns1:r>
            <ns1:r>
              <ns1:rPr dirty="0"/>
              <ns1:t>Working demo</ns1:t>
            </ns1:r>
            <ns1:r>
              <ns1:rPr lang="en-US" dirty="0"/>
              <ns1:t/>
            </ns1:r>
            <ns1:r>
              <ns1:rPr lang="en-SE" dirty="0"/>
              <ns1:t>Q3</ns1:t>
            </ns1:r>
            <ns1:r>
              <ns1:rPr dirty="0"/>
              <ns1:t>Industrial pilot</ns1:t>
            </ns1:r>
            <ns1:endParaRPr lang="en-US" dirty="0"/>
          </ns1:p>
          <ns1:p>
            <ns1:pPr marL="800100" lvl="1" indent="-342900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dirty="0"/>
              <ns1:t>(ABB/Combitech)</ns1:t>
            </ns1:r>
            <ns1:r>
              <ns1:rPr lang="en-US" dirty="0"/>
              <ns1:t>→</ns1:t>
            </ns1:r>
            <ns1:r>
              <ns1:rPr dirty="0"/>
              <ns1:t>Case study</ns1:t>
            </ns1:r>
            <ns1:r>
              <ns1:rPr dirty="0" err="1"/>
              <ns1:t/>
            </ns1:r>
            <ns1:r>
              <ns1:rPr dirty="0"/>
              <ns1:t>Q4</ns1:t>
            </ns1:r>
            <ns1:r>
              <ns1:rPr lang="en-US" dirty="0"/>
              <ns1:t>SDK v1 release</ns1:t>
            </ns1:r>
            <ns1:r>
              <ns1:rPr lang="en-SE" dirty="0"/>
              <ns1:t>Licensing prep</ns1:t>
            </ns1:r>
            <ns1:r>
              <ns1:rPr dirty="0"/>
              <ns1:t>→</ns1:t>
            </ns1:r>
            <ns1:endParaRPr lang="en-US" dirty="0"/>
          </ns1:p>
          <ns1:p>
            <ns1:pPr marL="800100" lvl="1" indent="-342900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dirty="0"/>
              <ns1:t>Commercialization</ns1:t>
            </ns1:r>
            <ns1:r>
              <ns1:rPr lang="en-US" dirty="0"/>
              <ns1:t/>
            </ns1:r>
            <ns1:r>
              <ns1:rPr dirty="0"/>
              <ns1:t>Future</ns1:t>
            </ns1:r>
            <ns1:r>
              <ns1:rPr lang="sv-SE" dirty="0"/>
              <ns1:t>New boards &amp; evidence</ns1:t>
            </ns1:r>
            <ns1:r>
              <ns1:rPr lang="en-SE" dirty="0"/>
              <ns1:t>Compliance-ready</ns1:t>
            </ns1:r>
            <ns1:r>
              <ns1:rPr dirty="0"/>
              <ns1:t>→</ns1:t>
            </ns1:r>
            <ns1:r>
              <ns1:rPr lang="en-US" dirty="0"/>
              <ns1:t>Fleet rollouts</ns1:t>
            </ns1:r>
            <ns1:r>
              <ns1:rPr dirty="0"/>
              <ns1:t/>
            </ns1:r>
          </ns1:p>
        </ns0:txBody>
      </ns0:sp>
    </ns0:spTree>
  </ns0:cSld>
  <ns0:clrMapOvr>
    <ns1:masterClrMapping/>
  </ns0:clrMapOvr>
</ns0:sld>
</file>

<file path=ppt/slides/slide10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Picture 1" descr="bg_gradient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0" y="0"/>
            <ns1:ext cx="12188952" cy="6858000"/>
          </ns1:xfrm>
          <ns1:prstGeom prst="rect">
            <ns1:avLst/>
          </ns1:prstGeom>
        </ns0:spPr>
      </ns0:pic>
      <ns0:pic>
        <ns0:nvPicPr>
          <ns0:cNvPr id="3" name="Picture 2" descr="ai_shield_cyan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11036952" y="360000"/>
            <ns1:ext cx="792000" cy="924000"/>
          </ns1:xfrm>
          <ns1:prstGeom prst="rect">
            <ns1:avLst/>
          </ns1:prstGeom>
        </ns0:spPr>
      </ns0:pic>
      <ns0:sp>
        <ns0:nvSpPr>
          <ns0:cNvPr id="4" name="TextBox 3"/>
          <ns0:cNvSpPr txBox="1"/>
          <ns0:nvPr/>
        </ns0:nvSpPr>
        <ns0:spPr>
          <ns1:xfrm>
            <ns1:off x="914400" y="822960"/>
            <ns1:ext cx="10058400" cy="128016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3800" b="1">
                <ns1:solidFill>
                  <ns1:srgbClr val="00B6C9"/>
                </ns1:solidFill>
                <ns1:latin typeface="Arial Rounded MT Bold"/>
              </ns1:defRPr>
            </ns1:pPr>
            <ns1:r>
              <ns1:t>Business Model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914400" y="1828800"/>
            <ns1:ext cx="10515600" cy="1015663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marL="342900" indent="-342900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dirty="0"/>
              <ns1:t>B2B SDK licensing per device/project.</ns1:t>
            </ns1:r>
          </ns1:p>
          <ns1:p>
            <ns1:pPr marL="342900" indent="-342900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dirty="0"/>
              <ns1:t>Support &amp; update subscriptions.</ns1:t>
            </ns1:r>
          </ns1:p>
          <ns1:p>
            <ns1:pPr marL="342900" indent="-342900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lang="en-US" sz="2000" dirty="0"/>
              <ns1:t>Optional validation/pilot services + gateway demo kit.</ns1:t>
            </ns1:r>
            <ns1:endParaRPr lang="en-US" dirty="0"/>
          </ns1:p>
        </ns0:txBody>
      </ns0:sp>
    </ns0:spTree>
  </ns0:cSld>
  <ns0:clrMapOvr>
    <ns1:masterClrMapping/>
  </ns0:clrMapOvr>
</ns0:sld>
</file>

<file path=ppt/slides/slide1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Picture 1" descr="bg_gradient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0" y="0"/>
            <ns1:ext cx="12188952" cy="6858000"/>
          </ns1:xfrm>
          <ns1:prstGeom prst="rect">
            <ns1:avLst/>
          </ns1:prstGeom>
        </ns0:spPr>
      </ns0:pic>
      <ns0:pic>
        <ns0:nvPicPr>
          <ns0:cNvPr id="3" name="Picture 2" descr="ai_shield_cyan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11036952" y="360000"/>
            <ns1:ext cx="792000" cy="924000"/>
          </ns1:xfrm>
          <ns1:prstGeom prst="rect">
            <ns1:avLst/>
          </ns1:prstGeom>
        </ns0:spPr>
      </ns0:pic>
      <ns0:sp>
        <ns0:nvSpPr>
          <ns0:cNvPr id="4" name="TextBox 3"/>
          <ns0:cNvSpPr txBox="1"/>
          <ns0:nvPr/>
        </ns0:nvSpPr>
        <ns0:spPr>
          <ns1:xfrm>
            <ns1:off x="914400" y="822960"/>
            <ns1:ext cx="10058400" cy="128016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3800" b="1">
                <ns1:solidFill>
                  <ns1:srgbClr val="00B6C9"/>
                </ns1:solidFill>
                <ns1:latin typeface="Arial Rounded MT Bold"/>
              </ns1:defRPr>
            </ns1:pPr>
            <ns1:r>
              <ns1:t>Competitive Advantage</ns1:t>
            </ns1:r>
          </ns1:p>
        </ns0:txBody>
      </ns0:sp>
      <ns0:graphicFrame>
        <ns0:nvGraphicFramePr>
          <ns0:cNvPr id="6" name="Table 5">
            <ns1:extLst>
              <ns1:ext uri="{FF2B5EF4-FFF2-40B4-BE49-F238E27FC236}">
                <ns3:creationId id="{1BED8DF4-5631-3D8E-8621-B44E06A67051}"/>
              </ns1:ext>
            </ns1:extLst>
          </ns0:cNvPr>
          <ns0:cNvGraphicFramePr>
            <ns1:graphicFrameLocks noGrp="1"/>
          </ns0:cNvGraphicFramePr>
          <ns0:nvPr>
            <ns0:extLst>
              <ns0:ext uri="{D42A27DB-BD31-4B8C-83A1-F6EECF244321}">
                <ns4:modId val="3223429586"/>
              </ns0:ext>
            </ns0:extLst>
          </ns0:nvPr>
        </ns0:nvGraphicFramePr>
        <ns0:xfrm>
          <ns1:off x="1506178" y="2038014"/>
          <ns1:ext cx="8125884" cy="2595880"/>
        </ns0:xfrm>
        <ns1:graphic>
          <ns1:graphicData uri="http://schemas.openxmlformats.org/drawingml/2006/table">
            <ns1:tbl>
              <ns1:tblPr firstRow="1" bandRow="1">
                <ns1:tableStyleId>{5C22544A-7EE6-4342-B048-85BDC9FD1C3A}</ns1:tableStyleId>
              </ns1:tblPr>
              <ns1:tblGrid>
                <ns1:gridCol w="2031471">
                  <ns1:extLst>
                    <ns1:ext uri="{9D8B030D-6E8A-4147-A177-3AD203B41FA5}">
                      <ns3:colId val="348058960"/>
                    </ns1:ext>
                  </ns1:extLst>
                </ns1:gridCol>
                <ns1:gridCol w="2031471">
                  <ns1:extLst>
                    <ns1:ext uri="{9D8B030D-6E8A-4147-A177-3AD203B41FA5}">
                      <ns3:colId val="431014379"/>
                    </ns1:ext>
                  </ns1:extLst>
                </ns1:gridCol>
                <ns1:gridCol w="2031471">
                  <ns1:extLst>
                    <ns1:ext uri="{9D8B030D-6E8A-4147-A177-3AD203B41FA5}">
                      <ns3:colId val="805964901"/>
                    </ns1:ext>
                  </ns1:extLst>
                </ns1:gridCol>
                <ns1:gridCol w="2031471">
                  <ns1:extLst>
                    <ns1:ext uri="{9D8B030D-6E8A-4147-A177-3AD203B41FA5}">
                      <ns3:colId val="4017163418"/>
                    </ns1:ext>
                  </ns1:extLst>
                </ns1:gridCol>
              </ns1:tblGrid>
              <ns1:tr h="370840">
                <ns1:tc>
                  <ns1:txBody>
                    <ns1:bodyPr/>
                    <ns1:lstStyle/>
                    <ns1:p>
                      <ns1:r>
                        <ns1:rPr lang="sv-SE" dirty="0"/>
                        <ns1:t>Feature</ns1:t>
                      </ns1:r>
                      <ns1:endParaRPr lang="en-SE" dirty="0"/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lang="en-SE" dirty="0" err="1"/>
                        <ns1:t>TinySentinel</ns1:t>
                      </ns1:r>
                      <ns1:endParaRPr lang="en-SE" dirty="0"/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lang="sv-SE" dirty="0"/>
                        <ns1:t>Cloud IDS</ns1:t>
                      </ns1:r>
                      <ns1:endParaRPr lang="en-SE" dirty="0"/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lang="sv-SE" dirty="0"/>
                        <ns1:t>Rule-based IDS</ns1:t>
                      </ns1:r>
                      <ns1:endParaRPr lang="en-SE" dirty="0"/>
                    </ns1:p>
                  </ns1:txBody>
                  <ns1:tcPr/>
                </ns1:tc>
                <ns1:extLst>
                  <ns1:ext uri="{0D108BD9-81ED-4DB2-BD59-A6C34878D82A}">
                    <ns3:rowId val="2813018375"/>
                  </ns1:ext>
                </ns1:extLst>
              </ns1:tr>
              <ns1:tr h="370840">
                <ns1:tc>
                  <ns1:txBody>
                    <ns1:bodyPr/>
                    <ns1:lstStyle/>
                    <ns1:p>
                      <ns1:r>
                        <ns1:rPr lang="sv-SE" dirty="0"/>
                        <ns1:t>Low Latency</ns1:t>
                      </ns1:r>
                      <ns1:endParaRPr lang="en-SE" dirty="0"/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lang="en-SE" dirty="0"/>
                        <ns1:t>✅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lang="en-SE" dirty="0"/>
                        <ns1:t>❌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pPr marL="0" marR="0" lvl="0" indent="0" algn="l" defTabSz="457200" rtl="0" eaLnBrk="1" fontAlgn="auto" latinLnBrk="0" hangingPunct="1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ClrTx/>
                        <ns1:buSzTx/>
                        <ns1:buFontTx/>
                        <ns1:buNone/>
                        <ns1:tabLst/>
                        <ns1:defRPr/>
                      </ns1:pPr>
                      <ns1:r>
                        <ns1:rPr lang="en-SE" dirty="0"/>
                        <ns1:t>✅</ns1:t>
                      </ns1:r>
                    </ns1:p>
                  </ns1:txBody>
                  <ns1:tcPr/>
                </ns1:tc>
                <ns1:extLst>
                  <ns1:ext uri="{0D108BD9-81ED-4DB2-BD59-A6C34878D82A}">
                    <ns3:rowId val="1340725933"/>
                  </ns1:ext>
                </ns1:extLst>
              </ns1:tr>
              <ns1:tr h="370840">
                <ns1:tc>
                  <ns1:txBody>
                    <ns1:bodyPr/>
                    <ns1:lstStyle/>
                    <ns1:p>
                      <ns1:r>
                        <ns1:rPr lang="sv-SE" dirty="0"/>
                        <ns1:t>Accuracy</ns1:t>
                      </ns1:r>
                      <ns1:endParaRPr lang="en-SE" dirty="0"/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lang="en-SE" dirty="0"/>
                        <ns1:t>✅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pPr marL="0" marR="0" lvl="0" indent="0" algn="l" defTabSz="457200" rtl="0" eaLnBrk="1" fontAlgn="auto" latinLnBrk="0" hangingPunct="1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ClrTx/>
                        <ns1:buSzTx/>
                        <ns1:buFontTx/>
                        <ns1:buNone/>
                        <ns1:tabLst/>
                        <ns1:defRPr/>
                      </ns1:pPr>
                      <ns1:r>
                        <ns1:rPr lang="en-SE" dirty="0"/>
                        <ns1:t>✅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pPr marL="0" marR="0" lvl="0" indent="0" algn="l" defTabSz="457200" rtl="0" eaLnBrk="1" fontAlgn="auto" latinLnBrk="0" hangingPunct="1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ClrTx/>
                        <ns1:buSzTx/>
                        <ns1:buFontTx/>
                        <ns1:buNone/>
                        <ns1:tabLst/>
                        <ns1:defRPr/>
                      </ns1:pPr>
                      <ns1:r>
                        <ns1:rPr lang="en-SE" dirty="0"/>
                        <ns1:t>⚠️</ns1:t>
                      </ns1:r>
                    </ns1:p>
                  </ns1:txBody>
                  <ns1:tcPr/>
                </ns1:tc>
                <ns1:extLst>
                  <ns1:ext uri="{0D108BD9-81ED-4DB2-BD59-A6C34878D82A}">
                    <ns3:rowId val="3579891118"/>
                  </ns1:ext>
                </ns1:extLst>
              </ns1:tr>
              <ns1:tr h="370840">
                <ns1:tc>
                  <ns1:txBody>
                    <ns1:bodyPr/>
                    <ns1:lstStyle/>
                    <ns1:p>
                      <ns1:r>
                        <ns1:rPr lang="sv-SE" dirty="0"/>
                        <ns1:t>Privacy</ns1:t>
                      </ns1:r>
                      <ns1:endParaRPr lang="en-SE" dirty="0"/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lang="en-SE" dirty="0"/>
                        <ns1:t>✅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lang="en-SE" dirty="0"/>
                        <ns1:t>❌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pPr marL="0" marR="0" lvl="0" indent="0" algn="l" defTabSz="457200" rtl="0" eaLnBrk="1" fontAlgn="auto" latinLnBrk="0" hangingPunct="1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ClrTx/>
                        <ns1:buSzTx/>
                        <ns1:buFontTx/>
                        <ns1:buNone/>
                        <ns1:tabLst/>
                        <ns1:defRPr/>
                      </ns1:pPr>
                      <ns1:r>
                        <ns1:rPr lang="en-SE" dirty="0"/>
                        <ns1:t>✅</ns1:t>
                      </ns1:r>
                    </ns1:p>
                  </ns1:txBody>
                  <ns1:tcPr/>
                </ns1:tc>
                <ns1:extLst>
                  <ns1:ext uri="{0D108BD9-81ED-4DB2-BD59-A6C34878D82A}">
                    <ns3:rowId val="3084788763"/>
                  </ns1:ext>
                </ns1:extLst>
              </ns1:tr>
              <ns1:tr h="370840">
                <ns1:tc>
                  <ns1:txBody>
                    <ns1:bodyPr/>
                    <ns1:lstStyle/>
                    <ns1:p>
                      <ns1:r>
                        <ns1:rPr lang="sv-SE" dirty="0"/>
                        <ns1:t>IEC 62443 Ready</ns1:t>
                      </ns1:r>
                      <ns1:endParaRPr lang="en-SE" dirty="0"/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lang="en-SE" dirty="0"/>
                        <ns1:t>✅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pPr marL="0" marR="0" lvl="0" indent="0" algn="l" defTabSz="457200" rtl="0" eaLnBrk="1" fontAlgn="auto" latinLnBrk="0" hangingPunct="1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ClrTx/>
                        <ns1:buSzTx/>
                        <ns1:buFontTx/>
                        <ns1:buNone/>
                        <ns1:tabLst/>
                        <ns1:defRPr/>
                      </ns1:pPr>
                      <ns1:r>
                        <ns1:rPr lang="en-SE" dirty="0"/>
                        <ns1:t>⚠️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pPr marL="0" marR="0" lvl="0" indent="0" algn="l" defTabSz="457200" rtl="0" eaLnBrk="1" fontAlgn="auto" latinLnBrk="0" hangingPunct="1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ClrTx/>
                        <ns1:buSzTx/>
                        <ns1:buFontTx/>
                        <ns1:buNone/>
                        <ns1:tabLst/>
                        <ns1:defRPr/>
                      </ns1:pPr>
                      <ns1:r>
                        <ns1:rPr lang="en-SE" dirty="0"/>
                        <ns1:t>⚠️</ns1:t>
                      </ns1:r>
                    </ns1:p>
                  </ns1:txBody>
                  <ns1:tcPr/>
                </ns1:tc>
                <ns1:extLst>
                  <ns1:ext uri="{0D108BD9-81ED-4DB2-BD59-A6C34878D82A}">
                    <ns3:rowId val="98564787"/>
                  </ns1:ext>
                </ns1:extLst>
              </ns1:tr>
              <ns1:tr h="370840">
                <ns1:tc>
                  <ns1:txBody>
                    <ns1:bodyPr/>
                    <ns1:lstStyle/>
                    <ns1:p>
                      <ns1:r>
                        <ns1:rPr lang="en-US" dirty="0"/>
                        <ns1:t>Footprint (&lt;256 KB)</ns1:t>
                      </ns1:r>
                      <ns1:endParaRPr lang="en-SE" dirty="0"/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lang="en-SE" dirty="0"/>
                        <ns1:t>✅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lang="en-SE" dirty="0"/>
                        <ns1:t>❌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pPr marL="0" marR="0" lvl="0" indent="0" algn="l" defTabSz="457200" rtl="0" eaLnBrk="1" fontAlgn="auto" latinLnBrk="0" hangingPunct="1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ClrTx/>
                        <ns1:buSzTx/>
                        <ns1:buFontTx/>
                        <ns1:buNone/>
                        <ns1:tabLst/>
                        <ns1:defRPr/>
                      </ns1:pPr>
                      <ns1:r>
                        <ns1:rPr lang="en-SE" dirty="0"/>
                        <ns1:t>❌</ns1:t>
                      </ns1:r>
                    </ns1:p>
                  </ns1:txBody>
                  <ns1:tcPr/>
                </ns1:tc>
                <ns1:extLst>
                  <ns1:ext uri="{0D108BD9-81ED-4DB2-BD59-A6C34878D82A}">
                    <ns3:rowId val="638445011"/>
                  </ns1:ext>
                </ns1:extLst>
              </ns1:tr>
              <ns1:tr h="370840">
                <ns1:tc>
                  <ns1:txBody>
                    <ns1:bodyPr/>
                    <ns1:lstStyle/>
                    <ns1:p>
                      <ns1:r>
                        <ns1:rPr lang="en-US" dirty="0"/>
                        <ns1:t>Energy Efficiency</ns1:t>
                      </ns1:r>
                      <ns1:endParaRPr lang="en-SE" dirty="0"/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pPr marL="0" marR="0" lvl="0" indent="0" algn="l" defTabSz="457200" rtl="0" eaLnBrk="1" fontAlgn="auto" latinLnBrk="0" hangingPunct="1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ClrTx/>
                        <ns1:buSzTx/>
                        <ns1:buFontTx/>
                        <ns1:buNone/>
                        <ns1:tabLst/>
                        <ns1:defRPr/>
                      </ns1:pPr>
                      <ns1:r>
                        <ns1:rPr lang="en-SE" dirty="0"/>
                        <ns1:t>✅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pPr marL="0" marR="0" lvl="0" indent="0" algn="l" defTabSz="457200" rtl="0" eaLnBrk="1" fontAlgn="auto" latinLnBrk="0" hangingPunct="1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ClrTx/>
                        <ns1:buSzTx/>
                        <ns1:buFontTx/>
                        <ns1:buNone/>
                        <ns1:tabLst/>
                        <ns1:defRPr/>
                      </ns1:pPr>
                      <ns1:r>
                        <ns1:rPr lang="en-SE" dirty="0"/>
                        <ns1:t>❌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pPr marL="0" marR="0" lvl="0" indent="0" algn="l" defTabSz="457200" rtl="0" eaLnBrk="1" fontAlgn="auto" latinLnBrk="0" hangingPunct="1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ClrTx/>
                        <ns1:buSzTx/>
                        <ns1:buFontTx/>
                        <ns1:buNone/>
                        <ns1:tabLst/>
                        <ns1:defRPr/>
                      </ns1:pPr>
                      <ns1:r>
                        <ns1:rPr lang="en-SE" dirty="0"/>
                        <ns1:t>⚠️</ns1:t>
                      </ns1:r>
                    </ns1:p>
                  </ns1:txBody>
                  <ns1:tcPr/>
                </ns1:tc>
                <ns1:extLst>
                  <ns1:ext uri="{0D108BD9-81ED-4DB2-BD59-A6C34878D82A}">
                    <ns3:rowId val="2321174954"/>
                  </ns1:ext>
                </ns1:extLst>
              </ns1:tr>
            </ns1:tbl>
          </ns1:graphicData>
        </ns1:graphic>
      </ns0:graphicFrame>
    </ns0:spTree>
  </ns0:cSld>
  <ns0:clrMapOvr>
    <ns1:masterClrMapping/>
  </ns0:clrMapOvr>
</ns0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Picture 1" descr="bg_gradient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0" y="0"/>
            <ns1:ext cx="12188952" cy="6858000"/>
          </ns1:xfrm>
          <ns1:prstGeom prst="rect">
            <ns1:avLst/>
          </ns1:prstGeom>
        </ns0:spPr>
      </ns0:pic>
      <ns0:pic>
        <ns0:nvPicPr>
          <ns0:cNvPr id="3" name="Picture 2" descr="ai_shield_cyan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11036952" y="360000"/>
            <ns1:ext cx="792000" cy="924000"/>
          </ns1:xfrm>
          <ns1:prstGeom prst="rect">
            <ns1:avLst/>
          </ns1:prstGeom>
        </ns0:spPr>
      </ns0:pic>
      <ns0:sp>
        <ns0:nvSpPr>
          <ns0:cNvPr id="4" name="TextBox 3"/>
          <ns0:cNvSpPr txBox="1"/>
          <ns0:nvPr/>
        </ns0:nvSpPr>
        <ns0:spPr>
          <ns1:xfrm>
            <ns1:off x="914400" y="822960"/>
            <ns1:ext cx="10058400" cy="128016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3800" b="1">
                <ns1:solidFill>
                  <ns1:srgbClr val="00B6C9"/>
                </ns1:solidFill>
                <ns1:latin typeface="Arial Rounded MT Bold"/>
              </ns1:defRPr>
            </ns1:pPr>
            <ns1:r>
              <ns1:t>Target Market &amp; Partners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914400" y="1828800"/>
            <ns1:ext cx="10515600" cy="1323439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marL="342900" indent="-342900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b="1" dirty="0"/>
              <ns1:t>Industrial Manufacturing:</ns1:t>
            </ns1:r>
            <ns1:r>
              <ns1:rPr dirty="0"/>
              <ns1:t>ABB, Siemens, Atlas Copco.</ns1:t>
            </ns1:r>
          </ns1:p>
          <ns1:p>
            <ns1:pPr marL="342900" indent="-342900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b="1" dirty="0"/>
              <ns1:t>Energy &amp; Critical Infrastructure:</ns1:t>
            </ns1:r>
            <ns1:r>
              <ns1:rPr dirty="0"/>
              <ns1:t>Hitachi Energy, Vattenfall.</ns1:t>
            </ns1:r>
          </ns1:p>
          <ns1:p>
            <ns1:pPr marL="342900" indent="-342900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b="1" dirty="0"/>
              <ns1:t>Integration Partners:</ns1:t>
            </ns1:r>
            <ns1:r>
              <ns1:rPr dirty="0"/>
              <ns1:t>Combitech, RISE.</ns1:t>
            </ns1:r>
            <ns1:r>
              <ns1:rPr dirty="0" err="1"/>
              <ns1:t>Security Partners:</ns1:t>
            </ns1:r>
            <ns1:r>
              <ns1:rPr dirty="0"/>
              <ns1:t>Edge/IoT platform vendors, OEMs.</ns1:t>
            </ns1:r>
          </ns1:p>
          <ns1:p>
            <ns1:pPr marL="342900" indent="-342900">
              <ns1:buFont typeface="Arial" panose="020B0604020202020204" pitchFamily="34" charset="0"/>
              <ns1:buChar char="•"/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dirty="0"/>
              <ns1:t/>
            </ns1:r>
          </ns1:p>
        </ns0:txBody>
      </ns0:sp>
    </ns0:spTree>
  </ns0:cSld>
  <ns0:clrMapOvr>
    <ns1:masterClrMapping/>
  </ns0:clrMapOvr>
</ns0:sld>
</file>

<file path=ppt/slides/slide1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Picture 1" descr="bg_gradient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0" y="0"/>
            <ns1:ext cx="12188952" cy="6858000"/>
          </ns1:xfrm>
          <ns1:prstGeom prst="rect">
            <ns1:avLst/>
          </ns1:prstGeom>
        </ns0:spPr>
      </ns0:pic>
      <ns0:pic>
        <ns0:nvPicPr>
          <ns0:cNvPr id="3" name="Picture 2" descr="ai_shield_cyan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11036952" y="360000"/>
            <ns1:ext cx="792000" cy="924000"/>
          </ns1:xfrm>
          <ns1:prstGeom prst="rect">
            <ns1:avLst/>
          </ns1:prstGeom>
        </ns0:spPr>
      </ns0:pic>
      <ns0:sp>
        <ns0:nvSpPr>
          <ns0:cNvPr id="4" name="TextBox 3"/>
          <ns0:cNvSpPr txBox="1"/>
          <ns0:nvPr/>
        </ns0:nvSpPr>
        <ns0:spPr>
          <ns1:xfrm>
            <ns1:off x="914400" y="822960"/>
            <ns1:ext cx="10058400" cy="128016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3800" b="1">
                <ns1:solidFill>
                  <ns1:srgbClr val="00B6C9"/>
                </ns1:solidFill>
                <ns1:latin typeface="Arial Rounded MT Bold"/>
              </ns1:defRPr>
            </ns1:pPr>
            <ns1:r>
              <ns1:t>Funding &amp; Use of Funds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914400" y="1828800"/>
            <ns1:ext cx="10515600" cy="2246769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dirty="0"/>
              <ns1:t>Ask: SEK 0.5–1.0M (grant/seed).</ns1:t>
            </ns1:r>
          </ns1:p>
          <ns1:p>
            <ns1:pPr>
              <ns1:defRPr sz="2000">
                <ns1:solidFill>
                  <ns1:srgbClr val="FFFFFF"/>
                </ns1:solidFill>
                <ns1:latin typeface="Segoe UI"/>
              </ns1:defRPr>
            </ns1:pPr>
            <ns1:endParaRPr dirty="0"/>
          </ns1:p>
          <ns1:p>
            <ns1:pPr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dirty="0"/>
              <ns1:t>Allocation:</ns1:t>
            </ns1:r>
          </ns1:p>
          <ns1:p>
            <ns1:pPr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dirty="0"/>
              <ns1:t>40% - SDK/core development</ns1:t>
            </ns1:r>
          </ns1:p>
          <ns1:p>
            <ns1:pPr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dirty="0"/>
              <ns1:t>30% - Hardware demos and testing</ns1:t>
            </ns1:r>
          </ns1:p>
          <ns1:p>
            <ns1:pPr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dirty="0"/>
              <ns1:t>20% - Market validation / compliance support</ns1:t>
            </ns1:r>
          </ns1:p>
          <ns1:p>
            <ns1:pPr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dirty="0"/>
              <ns1:t>10% - Admin &amp; legal</ns1:t>
            </ns1:r>
          </ns1:p>
        </ns0:txBody>
      </ns0:sp>
    </ns0:spTree>
  </ns0:cSld>
  <ns0:clrMapOvr>
    <ns1:masterClrMapping/>
  </ns0:clrMapOvr>
</ns0:sld>
</file>

<file path=ppt/slides/slide1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Picture 1" descr="bg_gradient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0" y="0"/>
            <ns1:ext cx="12188952" cy="6858000"/>
          </ns1:xfrm>
          <ns1:prstGeom prst="rect">
            <ns1:avLst/>
          </ns1:prstGeom>
        </ns0:spPr>
      </ns0:pic>
      <ns0:pic>
        <ns0:nvPicPr>
          <ns0:cNvPr id="3" name="Picture 2" descr="ai_shield_cyan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11036952" y="360000"/>
            <ns1:ext cx="792000" cy="924000"/>
          </ns1:xfrm>
          <ns1:prstGeom prst="rect">
            <ns1:avLst/>
          </ns1:prstGeom>
        </ns0:spPr>
      </ns0:pic>
      <ns0:sp>
        <ns0:nvSpPr>
          <ns0:cNvPr id="4" name="TextBox 3"/>
          <ns0:cNvSpPr txBox="1"/>
          <ns0:nvPr/>
        </ns0:nvSpPr>
        <ns0:spPr>
          <ns1:xfrm>
            <ns1:off x="914400" y="822960"/>
            <ns1:ext cx="10058400" cy="128016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3800" b="1">
                <ns1:solidFill>
                  <ns1:srgbClr val="00B6C9"/>
                </ns1:solidFill>
                <ns1:latin typeface="Arial Rounded MT Bold"/>
              </ns1:defRPr>
            </ns1:pPr>
            <ns1:r>
              <ns1:t>Vision &amp; Impact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914400" y="1828800"/>
            <ns1:ext cx="10515600" cy="23698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sz="2400" b="1" dirty="0"/>
              <ns1:t>Enabling secure and autonomous IIoT—everywhere.</ns1:t>
            </ns1:r>
          </ns1:p>
          <ns1:p>
            <ns1:pPr>
              <ns1:defRPr sz="2000">
                <ns1:solidFill>
                  <ns1:srgbClr val="FFFFFF"/>
                </ns1:solidFill>
                <ns1:latin typeface="Segoe UI"/>
              </ns1:defRPr>
            </ns1:pPr>
            <ns1:endParaRPr sz="2400" dirty="0"/>
          </ns1:p>
          <ns1:p>
            <ns1:pPr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lang="en-SE" b="1"/>
              <ns1:t>TinySentinel</ns1:t>
            </ns1:r>
            <ns1:r>
              <ns1:rPr lang="en-US"/>
              <ns1:t>aims to be</ns1:t>
            </ns1:r>
            <ns1:r>
              <ns1:rPr lang="en-US" dirty="0"/>
              <ns1:t>the embedded AI security layer for IEC 62443-ready devices.</ns1:t>
            </ns1:r>
            <ns1:r>
              <ns1:rPr lang="en-US" b="1" dirty="0"/>
              <ns1:t>Exit strategy:</ns1:t>
            </ns1:r>
            <ns1:endParaRPr lang="en-SE" b="1" dirty="0"/>
          </ns1:p>
          <ns1:p>
            <ns1:pPr>
              <ns1:defRPr sz="2000">
                <ns1:solidFill>
                  <ns1:srgbClr val="FFFFFF"/>
                </ns1:solidFill>
                <ns1:latin typeface="Segoe UI"/>
              </ns1:defRPr>
            </ns1:pPr>
            <ns1:br>
              <ns1:rPr lang="en-US" dirty="0"/>
            </ns1:br>
            <ns1:r>
              <ns1:rPr lang="en-US" b="1" dirty="0"/>
              <ns1:t>potential acquisition by a</ns1:t>
            </ns1:r>
            <ns1:r>
              <ns1:rPr lang="en-US" dirty="0"/>
              <ns1:t>security or industrial automation leader.</ns1:t>
            </ns1:r>
            <ns1:r>
              <ns1:rPr lang="en-US" b="1" dirty="0"/>
              <ns1:t>Call to action:</ns1:t>
            </ns1:r>
            <ns1:endParaRPr lang="en-SE" b="1" dirty="0"/>
          </ns1:p>
          <ns1:p>
            <ns1:pPr>
              <ns1:defRPr sz="2000">
                <ns1:solidFill>
                  <ns1:srgbClr val="FFFFFF"/>
                </ns1:solidFill>
                <ns1:latin typeface="Segoe UI"/>
              </ns1:defRPr>
            </ns1:pPr>
            <ns1:br>
              <ns1:rPr lang="en-US" dirty="0"/>
            </ns1:br>
            <ns1:r>
              <ns1:rPr lang="en-US" b="1" dirty="0"/>
              <ns1:t>Join us as early partners/pilots.</ns1:t>
            </ns1:r>
            <ns1:r>
              <ns1:rPr lang="en-US" dirty="0"/>
              <ns1:t/>
            </ns1:r>
            <ns1:r>
              <ns1:rPr lang="en-US" i="1" dirty="0"/>
              <ns1:t/>
            </ns1:r>
            <ns1:r>
              <ns1:rPr lang="en-SE" i="1" dirty="0"/>
              <ns1:t/>
            </ns1:r>
            <ns1:r>
              <ns1:rPr lang="en-US" i="1" dirty="0"/>
              <ns1:t/>
            </ns1:r>
            <ns1:endParaRPr dirty="0"/>
          </ns1:p>
        </ns0:txBody>
      </ns0:sp>
    </ns0:spTree>
  </ns0:cSld>
  <ns0:clrMapOvr>
    <ns1:masterClrMapping/>
  </ns0:clrMapOvr>
</ns0:sld>
</file>

<file path=ppt/slides/slide1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spTree>
      <ns0:nvGrpSpPr>
        <ns0:cNvPr id="1" name="">
          <ns1:extLst>
            <ns1:ext uri="{FF2B5EF4-FFF2-40B4-BE49-F238E27FC236}">
              <ns2:creationId id="{54BFC23C-D799-1B53-8C27-21D2EC77E0D5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Picture 1" descr="bg_gradient.png">
            <ns1:extLst>
              <ns1:ext uri="{FF2B5EF4-FFF2-40B4-BE49-F238E27FC236}">
                <ns2:creationId id="{A9A57A92-F9AA-F07D-83F8-0E6E647C3842}"/>
              </ns1:ext>
            </ns1:extLst>
          </ns0:cNvPr>
          <ns0:cNvPicPr>
            <ns1:picLocks noChangeAspect="1"/>
          </ns0:cNvPicPr>
          <ns0:nvPr/>
        </ns0:nvPicPr>
        <ns0:blipFill>
          <ns1:blip ns3:embed="rId3"/>
          <ns1:stretch>
            <ns1:fillRect/>
          </ns1:stretch>
        </ns0:blipFill>
        <ns0:spPr>
          <ns1:xfrm>
            <ns1:off x="0" y="0"/>
            <ns1:ext cx="12188952" cy="6858000"/>
          </ns1:xfrm>
          <ns1:prstGeom prst="rect">
            <ns1:avLst/>
          </ns1:prstGeom>
        </ns0:spPr>
      </ns0:pic>
      <ns0:pic>
        <ns0:nvPicPr>
          <ns0:cNvPr id="3" name="Picture 2" descr="ai_shield_cyan.png">
            <ns1:extLst>
              <ns1:ext uri="{FF2B5EF4-FFF2-40B4-BE49-F238E27FC236}">
                <ns2:creationId id="{96E7D972-4A3E-AB53-6815-7F6A3E5122D8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11036952" y="360000"/>
            <ns1:ext cx="792000" cy="924000"/>
          </ns1:xfrm>
          <ns1:prstGeom prst="rect">
            <ns1:avLst/>
          </ns1:prstGeom>
        </ns0:spPr>
      </ns0:pic>
      <ns0:sp>
        <ns0:nvSpPr>
          <ns0:cNvPr id="4" name="TextBox 3">
            <ns1:extLst>
              <ns1:ext uri="{FF2B5EF4-FFF2-40B4-BE49-F238E27FC236}">
                <ns2:creationId id="{7E16D2CC-6512-BF2F-D74F-DE8E5915EB43}"/>
              </ns1:ext>
            </ns1:extLst>
          </ns0:cNvPr>
          <ns0:cNvSpPr txBox="1"/>
          <ns0:nvPr/>
        </ns0:nvSpPr>
        <ns0:spPr>
          <ns1:xfrm>
            <ns1:off x="2968590" y="1284000"/>
            <ns1:ext cx="6147881" cy="677108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defRPr sz="3800" b="1">
                <ns1:solidFill>
                  <ns1:srgbClr val="00B6C9"/>
                </ns1:solidFill>
                <ns1:latin typeface="Arial Rounded MT Bold"/>
              </ns1:defRPr>
            </ns1:pPr>
            <ns1:r>
              <ns1:rPr lang="en-US" dirty="0"/>
              <ns1:t>Thank you</ns1:t>
            </ns1:r>
            <ns1:endParaRPr dirty="0"/>
          </ns1:p>
        </ns0:txBody>
      </ns0:sp>
      <ns0:sp>
        <ns0:nvSpPr>
          <ns0:cNvPr id="5" name="TextBox 4">
            <ns1:extLst>
              <ns1:ext uri="{FF2B5EF4-FFF2-40B4-BE49-F238E27FC236}">
                <ns2:creationId id="{E3D20457-5BEE-7901-9F81-AD74670134F9}"/>
              </ns1:ext>
            </ns1:extLst>
          </ns0:cNvPr>
          <ns0:cNvSpPr txBox="1"/>
          <ns0:nvPr/>
        </ns0:nvSpPr>
        <ns0:spPr>
          <ns1:xfrm>
            <ns1:off x="4991291" y="3013501"/>
            <ns1:ext cx="2206242" cy="830997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defRPr sz="2000">
                <ns1:solidFill>
                  <ns1:srgbClr val="FFFFFF"/>
                </ns1:solidFill>
                <ns1:latin typeface="Segoe UI"/>
              </ns1:defRPr>
            </ns1:pPr>
            <ns1:r>
              <ns1:rPr lang="en-US" sz="4800" b="1" dirty="0">
                <ns1:latin typeface="Arial Black" panose="020B0A04020102020204" pitchFamily="34" charset="0"/>
              </ns1:rPr>
              <ns1:t>Q&amp;A</ns1:t>
            </ns1:r>
            <ns1:endParaRPr sz="4800" b="1" dirty="0">
              <ns1:latin typeface="Arial Black" panose="020B0A04020102020204" pitchFamily="34" charset="0"/>
            </ns1:endParaRPr>
          </ns1:p>
        </ns0:txBody>
      </ns0:sp>
    </ns0:spTree>
    <ns0:extLst>
      <ns0:ext uri="{BB962C8B-B14F-4D97-AF65-F5344CB8AC3E}">
        <ns4:creationId val="2244778504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1230</Words>
  <Application>Microsoft Office PowerPoint</Application>
  <PresentationFormat>Custom</PresentationFormat>
  <Paragraphs>163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Ahmad Mostafavi</cp:lastModifiedBy>
  <cp:revision>34</cp:revision>
  <dcterms:created xsi:type="dcterms:W3CDTF">2013-01-27T09:14:16Z</dcterms:created>
  <dcterms:modified xsi:type="dcterms:W3CDTF">2025-11-06T09:59:35Z</dcterms:modified>
  <cp:category/>
</cp:coreProperties>
</file>