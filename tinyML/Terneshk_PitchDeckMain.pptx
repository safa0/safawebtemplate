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0" r:id="rId6"/>
    <p:sldId id="271" r:id="rId7"/>
    <p:sldId id="268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2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177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make every IoT device self-defending through embedded AI security.</a:t>
            </a:r>
          </a:p>
          <a:p>
            <a:endParaRPr/>
          </a:p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Regulatory pressure (IEC 62443, NIS2) is a market pull.</a:t>
            </a:r>
          </a:p>
          <a:p>
            <a:endParaRPr/>
          </a:p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EF8FA-7524-5448-F851-753A1130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7866BD-B664-70DF-FD95-ABAF2C47F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2B804-89FB-C034-4C9E-5C597487E0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F97A7-4522-4C0D-30FB-E74852B05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86208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A00A1-B4B6-BC62-D192-C9EF6F63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E596B-FFC2-46BB-14E1-DAEF905B7C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DB174-32E7-65C6-79E4-CAC6E24D2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2439-07A7-ECAC-CE10-6C372CB8E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5836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7EE72-A653-2ED5-5EF4-0191EA6D0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63D59-8222-66C0-12C1-ED654ECC27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5F9C0-42EE-5F3B-33C4-8DCD2F945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A9B9F-BB9C-09D9-7ECE-8B3B1A463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37758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Shows academic rigor and industrial readiness.</a:t>
            </a:r>
          </a:p>
          <a:p>
            <a:endParaRPr/>
          </a:p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9DA56-83C0-9E24-8A4E-E3322930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E5215-79EB-2286-609A-CEFFA4769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97879-534C-9136-5280-6B6701EC1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General Speaker Notes:</a:t>
            </a:r>
          </a:p>
          <a:p>
            <a:r>
              <a:t>- Keep tone conversational; stress how IEC 62443 and NIS2 drive demand.</a:t>
            </a:r>
          </a:p>
          <a:p>
            <a:r>
              <a:t>- Emphasize Swedish research roots (MDU) and global scalability.</a:t>
            </a:r>
          </a:p>
          <a:p>
            <a:r>
              <a:t>- Finish with a clear ask and pilot goal.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E08E2-9A0E-A9C2-0F36-4B6960099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7686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8261301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rPr dirty="0" err="1"/>
              <a:t>TinyML</a:t>
            </a:r>
            <a:r>
              <a:rPr dirty="0"/>
              <a:t>-based Intrusion Detection </a:t>
            </a:r>
          </a:p>
          <a:p>
            <a:pPr algn="ctr"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rPr dirty="0"/>
              <a:t>for IoT Devices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92869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Over 18 billion IoT devices in use</a:t>
            </a:r>
            <a:r>
              <a:rPr lang="en-SE" dirty="0"/>
              <a:t>. Expected to reach 40 </a:t>
            </a:r>
            <a:r>
              <a:rPr lang="en-SE" dirty="0" err="1"/>
              <a:t>bil</a:t>
            </a:r>
            <a:r>
              <a:rPr lang="sv-SE" dirty="0"/>
              <a:t>l</a:t>
            </a:r>
            <a:r>
              <a:rPr lang="en-SE" dirty="0"/>
              <a:t>ion by 2030*</a:t>
            </a:r>
          </a:p>
          <a:p>
            <a:pPr marL="265113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dirty="0"/>
              <a:t>C</a:t>
            </a:r>
            <a:r>
              <a:rPr lang="en-US" dirty="0" err="1"/>
              <a:t>yber</a:t>
            </a:r>
            <a:r>
              <a:rPr dirty="0" err="1"/>
              <a:t>security</a:t>
            </a:r>
            <a:r>
              <a:rPr lang="en-US" dirty="0"/>
              <a:t> </a:t>
            </a:r>
            <a:r>
              <a:rPr lang="en-SE" dirty="0"/>
              <a:t>threats are surging: 400% increase in malware attack over year 2022*</a:t>
            </a:r>
            <a:endParaRPr lang="en-US" dirty="0"/>
          </a:p>
          <a:p>
            <a:pPr marL="265113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dirty="0"/>
              <a:t>Stricter</a:t>
            </a:r>
            <a:r>
              <a:rPr lang="en-US" dirty="0"/>
              <a:t> regulations and </a:t>
            </a:r>
            <a:r>
              <a:rPr lang="en-SE" dirty="0"/>
              <a:t>customer demand drive compliance</a:t>
            </a:r>
            <a:r>
              <a:rPr lang="en-US" dirty="0"/>
              <a:t> </a:t>
            </a:r>
            <a:r>
              <a:rPr lang="en-SE" dirty="0"/>
              <a:t>pressure *</a:t>
            </a:r>
            <a:endParaRPr dirty="0"/>
          </a:p>
          <a:p>
            <a:pPr marL="265113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IEC 62443 requires continuous anomaly detection</a:t>
            </a:r>
            <a:r>
              <a:rPr lang="en-SE" dirty="0"/>
              <a:t>; yet </a:t>
            </a:r>
            <a:r>
              <a:rPr lang="en-US" dirty="0"/>
              <a:t>most vendors </a:t>
            </a:r>
            <a:r>
              <a:rPr lang="en-SE" dirty="0"/>
              <a:t>are not compliant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67ECE6-CC2A-5823-6F83-790870CC1298}"/>
              </a:ext>
            </a:extLst>
          </p:cNvPr>
          <p:cNvSpPr txBox="1"/>
          <p:nvPr/>
        </p:nvSpPr>
        <p:spPr>
          <a:xfrm>
            <a:off x="1140977" y="5235547"/>
            <a:ext cx="8210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* </a:t>
            </a:r>
            <a:r>
              <a:rPr lang="sv-SE" dirty="0"/>
              <a:t>https://iot-analytics.com/number-connected-iot-devices/?utm_source=chatgpt.com</a:t>
            </a:r>
            <a:endParaRPr lang="en-S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US" sz="2000" dirty="0"/>
              <a:t>Analysts forecast the global IoT security market to grow from around USD 35 billion in 2024 to well over USD 100 billion by 2030</a:t>
            </a:r>
            <a:r>
              <a:rPr dirty="0"/>
              <a:t>. *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Industrial automation &amp; energy sectors are leading the demand.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Vendors must integrate embedded security to achieve IEC 62443 compliance</a:t>
            </a:r>
            <a:r>
              <a:rPr lang="en-US" dirty="0"/>
              <a:t> by 2027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30445-3A51-6351-B86D-A0C1C68E44FA}"/>
              </a:ext>
            </a:extLst>
          </p:cNvPr>
          <p:cNvSpPr txBox="1"/>
          <p:nvPr/>
        </p:nvSpPr>
        <p:spPr>
          <a:xfrm>
            <a:off x="1439186" y="4492487"/>
            <a:ext cx="9080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* </a:t>
            </a:r>
            <a:r>
              <a:rPr lang="sv-SE" dirty="0"/>
              <a:t>https://www.grandviewresearch.com/industry-analysis/internet-of-things-iot-security-market</a:t>
            </a:r>
            <a:endParaRPr lang="en-S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4238661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rPr lang="en-US" dirty="0"/>
              <a:t>Todays </a:t>
            </a:r>
            <a:r>
              <a:rPr dirty="0"/>
              <a:t>Solution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sv-SE" dirty="0"/>
              <a:t>Cloud IDS, while suitable for some application, has the following drawbacks</a:t>
            </a:r>
          </a:p>
          <a:p>
            <a:pPr marL="722313" lvl="1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dirty="0"/>
              <a:t>High </a:t>
            </a:r>
            <a:r>
              <a:rPr lang="sv-SE" dirty="0"/>
              <a:t>Latency</a:t>
            </a:r>
          </a:p>
          <a:p>
            <a:pPr marL="722313" lvl="1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sv-SE" dirty="0"/>
              <a:t>Privacy risk</a:t>
            </a:r>
          </a:p>
          <a:p>
            <a:pPr marL="722313" lvl="1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dirty="0"/>
              <a:t>Dependence on </a:t>
            </a:r>
            <a:r>
              <a:rPr lang="en-SE" dirty="0" err="1"/>
              <a:t>contin</a:t>
            </a:r>
            <a:r>
              <a:rPr lang="sv-SE" dirty="0"/>
              <a:t>u</a:t>
            </a:r>
            <a:r>
              <a:rPr lang="en-SE" dirty="0" err="1"/>
              <a:t>ous</a:t>
            </a:r>
            <a:r>
              <a:rPr lang="en-SE" dirty="0"/>
              <a:t> c</a:t>
            </a:r>
            <a:r>
              <a:rPr lang="sv-SE" dirty="0"/>
              <a:t>onnectivity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0EC03-CC37-E5BC-C4B7-1AA4E0508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>
            <a:extLst>
              <a:ext uri="{FF2B5EF4-FFF2-40B4-BE49-F238E27FC236}">
                <a16:creationId xmlns:a16="http://schemas.microsoft.com/office/drawing/2014/main" id="{F1BF90B5-179C-415D-FB24-23CB7115B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>
            <a:extLst>
              <a:ext uri="{FF2B5EF4-FFF2-40B4-BE49-F238E27FC236}">
                <a16:creationId xmlns:a16="http://schemas.microsoft.com/office/drawing/2014/main" id="{6928627F-C69C-DAD4-E0C8-85EACEBB0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CC2F95-E474-F0F9-20E7-F1B74FA414F3}"/>
              </a:ext>
            </a:extLst>
          </p:cNvPr>
          <p:cNvSpPr txBox="1"/>
          <p:nvPr/>
        </p:nvSpPr>
        <p:spPr>
          <a:xfrm>
            <a:off x="914400" y="822960"/>
            <a:ext cx="6800003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rPr lang="en-US" dirty="0"/>
              <a:t>Todays </a:t>
            </a:r>
            <a:r>
              <a:rPr dirty="0"/>
              <a:t>Solution</a:t>
            </a:r>
            <a:r>
              <a:rPr lang="en-US" dirty="0"/>
              <a:t>s - continue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475768-A6E7-DBBC-487C-20083E817ECB}"/>
              </a:ext>
            </a:extLst>
          </p:cNvPr>
          <p:cNvSpPr txBox="1"/>
          <p:nvPr/>
        </p:nvSpPr>
        <p:spPr>
          <a:xfrm>
            <a:off x="914400" y="1828800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sv-SE" dirty="0"/>
              <a:t>Local Server, could be a feasible solution for some but has the folowing cons</a:t>
            </a:r>
          </a:p>
          <a:p>
            <a:pPr marL="722313" lvl="1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dirty="0"/>
              <a:t>Increases system complexity</a:t>
            </a:r>
            <a:endParaRPr lang="sv-SE" dirty="0"/>
          </a:p>
          <a:p>
            <a:pPr marL="722313" lvl="1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dirty="0"/>
              <a:t>Too costly for large-scale or low-margin applications (e.g. </a:t>
            </a:r>
            <a:r>
              <a:rPr lang="sv-SE" dirty="0"/>
              <a:t>T</a:t>
            </a:r>
            <a:r>
              <a:rPr lang="en-SE" dirty="0" err="1"/>
              <a:t>raffic</a:t>
            </a:r>
            <a:r>
              <a:rPr lang="en-SE" dirty="0"/>
              <a:t> cameras)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9508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553B7-CF3E-F6E5-F05F-EE81093EA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>
            <a:extLst>
              <a:ext uri="{FF2B5EF4-FFF2-40B4-BE49-F238E27FC236}">
                <a16:creationId xmlns:a16="http://schemas.microsoft.com/office/drawing/2014/main" id="{9B15045F-FA6B-C535-C0B8-624AF1774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>
            <a:extLst>
              <a:ext uri="{FF2B5EF4-FFF2-40B4-BE49-F238E27FC236}">
                <a16:creationId xmlns:a16="http://schemas.microsoft.com/office/drawing/2014/main" id="{92ED01FA-D0C3-7853-8DD7-99096AA92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80423B-0D5D-B845-4AE3-DCD44C647660}"/>
              </a:ext>
            </a:extLst>
          </p:cNvPr>
          <p:cNvSpPr txBox="1"/>
          <p:nvPr/>
        </p:nvSpPr>
        <p:spPr>
          <a:xfrm>
            <a:off x="914400" y="822960"/>
            <a:ext cx="6660541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rPr lang="en-US" dirty="0"/>
              <a:t>Todays </a:t>
            </a:r>
            <a:r>
              <a:rPr dirty="0"/>
              <a:t>Solution</a:t>
            </a:r>
            <a:r>
              <a:rPr lang="en-US" dirty="0"/>
              <a:t>s - continue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9280C-B001-F1BE-6425-582522B8342C}"/>
              </a:ext>
            </a:extLst>
          </p:cNvPr>
          <p:cNvSpPr txBox="1"/>
          <p:nvPr/>
        </p:nvSpPr>
        <p:spPr>
          <a:xfrm>
            <a:off x="914400" y="1828800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dirty="0"/>
              <a:t>Deploying </a:t>
            </a:r>
            <a:r>
              <a:rPr lang="sv-SE" dirty="0"/>
              <a:t>IDS </a:t>
            </a:r>
            <a:r>
              <a:rPr lang="en-SE" dirty="0"/>
              <a:t>directly </a:t>
            </a:r>
            <a:r>
              <a:rPr lang="sv-SE" dirty="0"/>
              <a:t>on IoT/IIoT devices </a:t>
            </a:r>
            <a:r>
              <a:rPr lang="en-SE" dirty="0"/>
              <a:t>can </a:t>
            </a:r>
            <a:r>
              <a:rPr lang="sv-SE" dirty="0"/>
              <a:t>address </a:t>
            </a:r>
            <a:r>
              <a:rPr lang="en-SE" dirty="0"/>
              <a:t>many </a:t>
            </a:r>
            <a:r>
              <a:rPr lang="sv-SE" dirty="0"/>
              <a:t>challenges.</a:t>
            </a:r>
          </a:p>
          <a:p>
            <a:pPr marL="722313" lvl="1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sv-SE" dirty="0"/>
              <a:t>Rule</a:t>
            </a:r>
            <a:r>
              <a:rPr lang="en-SE" dirty="0"/>
              <a:t>-</a:t>
            </a:r>
            <a:r>
              <a:rPr lang="sv-SE" dirty="0"/>
              <a:t>based IDS cannot </a:t>
            </a:r>
            <a:r>
              <a:rPr lang="en-SE" dirty="0"/>
              <a:t>keep up with</a:t>
            </a:r>
            <a:r>
              <a:rPr lang="sv-SE" dirty="0"/>
              <a:t> AI-</a:t>
            </a:r>
            <a:r>
              <a:rPr lang="en-SE" dirty="0"/>
              <a:t>driven and evolving</a:t>
            </a:r>
            <a:r>
              <a:rPr lang="sv-SE" dirty="0"/>
              <a:t> cyberattacks.</a:t>
            </a:r>
          </a:p>
          <a:p>
            <a:pPr marL="722313" lvl="1" indent="-265113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dirty="0"/>
              <a:t>IoT devices l</a:t>
            </a:r>
            <a:r>
              <a:rPr lang="sv-SE" dirty="0"/>
              <a:t>ack sufficient comput</a:t>
            </a:r>
            <a:r>
              <a:rPr lang="en-SE" dirty="0"/>
              <a:t>e</a:t>
            </a:r>
            <a:r>
              <a:rPr lang="sv-SE" dirty="0"/>
              <a:t> power &amp; memory to run traditional AI-</a:t>
            </a:r>
            <a:r>
              <a:rPr lang="en-SE" dirty="0"/>
              <a:t>based </a:t>
            </a:r>
            <a:r>
              <a:rPr lang="sv-SE" dirty="0"/>
              <a:t>IDS.</a:t>
            </a:r>
          </a:p>
        </p:txBody>
      </p:sp>
    </p:spTree>
    <p:extLst>
      <p:ext uri="{BB962C8B-B14F-4D97-AF65-F5344CB8AC3E}">
        <p14:creationId xmlns:p14="http://schemas.microsoft.com/office/powerpoint/2010/main" val="388416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A06DC-C53D-9326-B039-186A74DE7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>
            <a:extLst>
              <a:ext uri="{FF2B5EF4-FFF2-40B4-BE49-F238E27FC236}">
                <a16:creationId xmlns:a16="http://schemas.microsoft.com/office/drawing/2014/main" id="{56B8C60D-5715-6B75-C57E-9182A41CC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>
            <a:extLst>
              <a:ext uri="{FF2B5EF4-FFF2-40B4-BE49-F238E27FC236}">
                <a16:creationId xmlns:a16="http://schemas.microsoft.com/office/drawing/2014/main" id="{C7AD0334-C008-C668-86DB-C1BC97FDF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A2865F-C393-6E6B-BB82-F8FEF10F97DD}"/>
              </a:ext>
            </a:extLst>
          </p:cNvPr>
          <p:cNvSpPr txBox="1"/>
          <p:nvPr/>
        </p:nvSpPr>
        <p:spPr>
          <a:xfrm>
            <a:off x="914400" y="822960"/>
            <a:ext cx="5541004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rPr lang="en-US" dirty="0"/>
              <a:t>Our Proposed </a:t>
            </a:r>
            <a:r>
              <a:rPr dirty="0"/>
              <a:t>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436A8-7FEE-50ED-B41D-074D24C33561}"/>
              </a:ext>
            </a:extLst>
          </p:cNvPr>
          <p:cNvSpPr txBox="1"/>
          <p:nvPr/>
        </p:nvSpPr>
        <p:spPr>
          <a:xfrm>
            <a:off x="917352" y="2350617"/>
            <a:ext cx="1051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An AI based IDS: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Small enough to fit into embedded devices (less than 1MB)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dirty="0"/>
              <a:t>F</a:t>
            </a:r>
            <a:r>
              <a:rPr lang="en-US" dirty="0" err="1"/>
              <a:t>ast</a:t>
            </a:r>
            <a:r>
              <a:rPr lang="en-SE" dirty="0"/>
              <a:t> </a:t>
            </a:r>
            <a:r>
              <a:rPr lang="en-US" dirty="0"/>
              <a:t>response:  </a:t>
            </a:r>
            <a:r>
              <a:rPr lang="en-SE" dirty="0"/>
              <a:t>&lt;</a:t>
            </a:r>
            <a:r>
              <a:rPr lang="en-US" dirty="0"/>
              <a:t> 300 µs latency 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dirty="0"/>
              <a:t>High </a:t>
            </a:r>
            <a:r>
              <a:rPr lang="en-SE" dirty="0" err="1"/>
              <a:t>accur</a:t>
            </a:r>
            <a:r>
              <a:rPr lang="sv-SE" dirty="0"/>
              <a:t>a</a:t>
            </a:r>
            <a:r>
              <a:rPr lang="en-SE" dirty="0"/>
              <a:t>cy:</a:t>
            </a:r>
            <a:r>
              <a:rPr lang="en-US" dirty="0"/>
              <a:t> </a:t>
            </a:r>
            <a:r>
              <a:rPr lang="en-SE" dirty="0"/>
              <a:t>&gt;</a:t>
            </a:r>
            <a:r>
              <a:rPr dirty="0"/>
              <a:t>98 % accuracy 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Plug-and-play C/C++ library.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US" dirty="0"/>
              <a:t>Covers detection requirement requested by</a:t>
            </a:r>
            <a:r>
              <a:rPr dirty="0"/>
              <a:t> IEC 62443.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F58F5-7FD2-23D7-ECF1-BB7429002A79}"/>
              </a:ext>
            </a:extLst>
          </p:cNvPr>
          <p:cNvSpPr txBox="1"/>
          <p:nvPr/>
        </p:nvSpPr>
        <p:spPr>
          <a:xfrm>
            <a:off x="2460807" y="1666426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sz="2400" b="1" dirty="0" err="1"/>
              <a:t>TinyML</a:t>
            </a:r>
            <a:r>
              <a:rPr sz="2400" b="1" dirty="0"/>
              <a:t> Intrusion Detection</a:t>
            </a:r>
            <a:r>
              <a:rPr lang="en-US" sz="2400" b="1" dirty="0"/>
              <a:t> SDK</a:t>
            </a:r>
            <a:r>
              <a:rPr sz="2400" b="1" dirty="0"/>
              <a:t> for MCUs.</a:t>
            </a:r>
          </a:p>
        </p:txBody>
      </p:sp>
    </p:spTree>
    <p:extLst>
      <p:ext uri="{BB962C8B-B14F-4D97-AF65-F5344CB8AC3E}">
        <p14:creationId xmlns:p14="http://schemas.microsoft.com/office/powerpoint/2010/main" val="87326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t>Proof of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Based on </a:t>
            </a:r>
            <a:r>
              <a:rPr lang="sv-SE" dirty="0"/>
              <a:t>research</a:t>
            </a:r>
            <a:r>
              <a:rPr lang="en-SE" dirty="0"/>
              <a:t> from</a:t>
            </a:r>
            <a:r>
              <a:rPr dirty="0"/>
              <a:t> </a:t>
            </a:r>
            <a:r>
              <a:rPr dirty="0" err="1"/>
              <a:t>Mälardalen</a:t>
            </a:r>
            <a:r>
              <a:rPr dirty="0"/>
              <a:t> University.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Validated on RISC-V emulator → 98 % accuracy.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Same architecture portable to ARM Cortex-M.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t>Technology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b="1" dirty="0"/>
              <a:t>Phase</a:t>
            </a:r>
            <a:r>
              <a:rPr lang="en-US" b="1" dirty="0"/>
              <a:t> </a:t>
            </a:r>
            <a:r>
              <a:rPr b="1" dirty="0"/>
              <a:t>Goal</a:t>
            </a:r>
            <a:r>
              <a:rPr lang="en-US" b="1" dirty="0"/>
              <a:t> </a:t>
            </a:r>
            <a:r>
              <a:rPr b="1" dirty="0"/>
              <a:t>Deliverable</a:t>
            </a:r>
            <a:r>
              <a:rPr lang="en-US" b="1" dirty="0"/>
              <a:t>:</a:t>
            </a:r>
            <a:endParaRPr b="1" dirty="0"/>
          </a:p>
          <a:p>
            <a:pPr marL="800100" lvl="1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Q1</a:t>
            </a:r>
            <a:r>
              <a:rPr lang="en-US" dirty="0"/>
              <a:t>,</a:t>
            </a:r>
            <a:r>
              <a:rPr dirty="0"/>
              <a:t>Q2</a:t>
            </a:r>
            <a:r>
              <a:rPr lang="en-US" dirty="0"/>
              <a:t>: </a:t>
            </a:r>
            <a:r>
              <a:rPr dirty="0"/>
              <a:t>SDK core + ARM prototype</a:t>
            </a:r>
            <a:r>
              <a:rPr lang="en-US" dirty="0"/>
              <a:t> </a:t>
            </a:r>
            <a:r>
              <a:rPr lang="en-SE" dirty="0"/>
              <a:t>→ </a:t>
            </a:r>
            <a:r>
              <a:rPr dirty="0"/>
              <a:t>Working demo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Q3</a:t>
            </a:r>
            <a:r>
              <a:rPr lang="en-US" dirty="0"/>
              <a:t>: </a:t>
            </a:r>
            <a:r>
              <a:rPr dirty="0"/>
              <a:t>Industrial pilot (ABB/</a:t>
            </a:r>
            <a:r>
              <a:rPr dirty="0" err="1"/>
              <a:t>Combitech</a:t>
            </a:r>
            <a:r>
              <a:rPr dirty="0"/>
              <a:t>)</a:t>
            </a:r>
            <a:r>
              <a:rPr lang="en-US" dirty="0"/>
              <a:t> </a:t>
            </a:r>
            <a:r>
              <a:rPr lang="en-SE" dirty="0"/>
              <a:t>→ </a:t>
            </a:r>
            <a:r>
              <a:rPr dirty="0"/>
              <a:t>Case study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Q4</a:t>
            </a:r>
            <a:r>
              <a:rPr lang="en-US" dirty="0"/>
              <a:t>: </a:t>
            </a:r>
            <a:r>
              <a:rPr dirty="0"/>
              <a:t>SDK v1 </a:t>
            </a:r>
            <a:r>
              <a:rPr lang="sv-SE" dirty="0"/>
              <a:t>release </a:t>
            </a:r>
            <a:r>
              <a:rPr lang="en-SE" dirty="0"/>
              <a:t>→</a:t>
            </a:r>
            <a:r>
              <a:rPr dirty="0"/>
              <a:t> licensing preparation &amp;</a:t>
            </a:r>
            <a:r>
              <a:rPr lang="en-US" dirty="0"/>
              <a:t> </a:t>
            </a:r>
            <a:r>
              <a:rPr dirty="0"/>
              <a:t>commercialization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B2B SDK licensing (per-device or project).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Maintenance &amp; update subscriptions.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US" sz="2000" dirty="0"/>
              <a:t>Optional gateway demo kit that enables customers to integrate our SDK quickly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t>Competitive Advantage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BED8DF4-5631-3D8E-8621-B44E06A67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429586"/>
              </p:ext>
            </p:extLst>
          </p:nvPr>
        </p:nvGraphicFramePr>
        <p:xfrm>
          <a:off x="1506178" y="2038014"/>
          <a:ext cx="812588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1471">
                  <a:extLst>
                    <a:ext uri="{9D8B030D-6E8A-4147-A177-3AD203B41FA5}">
                      <a16:colId xmlns:a16="http://schemas.microsoft.com/office/drawing/2014/main" val="348058960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431014379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805964901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4017163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Feature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 err="1"/>
                        <a:t>Terneshk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Cloud IDS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/>
                        <a:t>Rule-based IDS</a:t>
                      </a:r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018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No latency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725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Accuracy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891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Privacy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4788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v-SE" dirty="0"/>
                        <a:t>IEC 62443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⚠️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4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Footprint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445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Energy Efficiency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E" dirty="0"/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1749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t>Target Market &amp;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b="1" dirty="0"/>
              <a:t>Industrial Automation:</a:t>
            </a:r>
            <a:r>
              <a:rPr dirty="0"/>
              <a:t> ABB, Siemens, Atlas Copco.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b="1" dirty="0"/>
              <a:t>Energy &amp; Utility:</a:t>
            </a:r>
            <a:r>
              <a:rPr dirty="0"/>
              <a:t> Hitachi Energy, Vattenfall.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b="1" dirty="0"/>
              <a:t>Integration Partners:</a:t>
            </a:r>
            <a:r>
              <a:rPr dirty="0"/>
              <a:t> </a:t>
            </a:r>
            <a:r>
              <a:rPr dirty="0" err="1"/>
              <a:t>Combitech</a:t>
            </a:r>
            <a:r>
              <a:rPr dirty="0"/>
              <a:t>, RISE.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Ideal for vendors seeking IEC 62443 certification.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t>Funding &amp; 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Ask: SEK 500 000 – 1 M (grant + seed).</a:t>
            </a:r>
          </a:p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endParaRPr dirty="0"/>
          </a:p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Allocation:</a:t>
            </a:r>
          </a:p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40 % - Software &amp; SDK development</a:t>
            </a:r>
          </a:p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30 % - Hardware demo and testing</a:t>
            </a:r>
          </a:p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20 % - Market validation / IEC 62443 cert support</a:t>
            </a:r>
          </a:p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dirty="0"/>
              <a:t>10 % - Admin &amp; legal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t>Vision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rPr sz="2400" b="1" dirty="0"/>
              <a:t>“Enabling secure and autonomous IoT - everywhere.”</a:t>
            </a:r>
          </a:p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endParaRPr sz="2400" dirty="0"/>
          </a:p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SE" b="1"/>
              <a:t>Terneshk</a:t>
            </a:r>
            <a:r>
              <a:rPr lang="en-US"/>
              <a:t> </a:t>
            </a:r>
            <a:r>
              <a:rPr lang="en-US" dirty="0"/>
              <a:t>aims to become a </a:t>
            </a:r>
            <a:r>
              <a:rPr lang="en-US" b="1" dirty="0"/>
              <a:t>key enabler for IEC 62443-compliant embedded devices.</a:t>
            </a:r>
            <a:endParaRPr lang="en-SE" b="1" dirty="0"/>
          </a:p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br>
              <a:rPr lang="en-US" dirty="0"/>
            </a:br>
            <a:r>
              <a:rPr lang="en-US" b="1" dirty="0"/>
              <a:t>Exit strategy:</a:t>
            </a:r>
            <a:r>
              <a:rPr lang="en-US" dirty="0"/>
              <a:t> potential acquisition by a </a:t>
            </a:r>
            <a:r>
              <a:rPr lang="en-US" b="1" dirty="0"/>
              <a:t>security or industrial automation leader.</a:t>
            </a:r>
            <a:endParaRPr lang="en-SE" b="1" dirty="0"/>
          </a:p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br>
              <a:rPr lang="en-US" dirty="0"/>
            </a:br>
            <a:r>
              <a:rPr lang="en-US" b="1" dirty="0"/>
              <a:t>Call to action:</a:t>
            </a:r>
            <a:r>
              <a:rPr lang="en-US" dirty="0"/>
              <a:t> </a:t>
            </a:r>
            <a:r>
              <a:rPr lang="en-US" i="1" dirty="0"/>
              <a:t>Join us in building Sweden’s first</a:t>
            </a:r>
            <a:r>
              <a:rPr lang="en-SE" i="1" dirty="0"/>
              <a:t>/Next(?)</a:t>
            </a:r>
            <a:r>
              <a:rPr lang="en-US" i="1" dirty="0"/>
              <a:t> embedded AI security platform.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FC23C-D799-1B53-8C27-21D2EC77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gradient.png">
            <a:extLst>
              <a:ext uri="{FF2B5EF4-FFF2-40B4-BE49-F238E27FC236}">
                <a16:creationId xmlns:a16="http://schemas.microsoft.com/office/drawing/2014/main" id="{A9A57A92-F9AA-F07D-83F8-0E6E647C3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ai_shield_cyan.png">
            <a:extLst>
              <a:ext uri="{FF2B5EF4-FFF2-40B4-BE49-F238E27FC236}">
                <a16:creationId xmlns:a16="http://schemas.microsoft.com/office/drawing/2014/main" id="{96E7D972-4A3E-AB53-6815-7F6A3E512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952" y="360000"/>
            <a:ext cx="792000" cy="92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16D2CC-6512-BF2F-D74F-DE8E5915EB43}"/>
              </a:ext>
            </a:extLst>
          </p:cNvPr>
          <p:cNvSpPr txBox="1"/>
          <p:nvPr/>
        </p:nvSpPr>
        <p:spPr>
          <a:xfrm>
            <a:off x="2968590" y="1284000"/>
            <a:ext cx="614788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0B6C9"/>
                </a:solidFill>
                <a:latin typeface="Arial Rounded MT Bold"/>
              </a:defRPr>
            </a:pPr>
            <a:r>
              <a:rPr lang="en-US" dirty="0"/>
              <a:t>Thanks for your attention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D20457-5BEE-7901-9F81-AD74670134F9}"/>
              </a:ext>
            </a:extLst>
          </p:cNvPr>
          <p:cNvSpPr txBox="1"/>
          <p:nvPr/>
        </p:nvSpPr>
        <p:spPr>
          <a:xfrm>
            <a:off x="4991291" y="3013501"/>
            <a:ext cx="22062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rPr lang="en-US" sz="4800" b="1" dirty="0">
                <a:latin typeface="Arial Black" panose="020B0A04020102020204" pitchFamily="34" charset="0"/>
              </a:rPr>
              <a:t>Q &amp; A</a:t>
            </a:r>
            <a:endParaRPr sz="4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778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1230</Words>
  <Application>Microsoft Office PowerPoint</Application>
  <PresentationFormat>Custom</PresentationFormat>
  <Paragraphs>163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Ahmad Mostafavi</cp:lastModifiedBy>
  <cp:revision>34</cp:revision>
  <dcterms:created xsi:type="dcterms:W3CDTF">2013-01-27T09:14:16Z</dcterms:created>
  <dcterms:modified xsi:type="dcterms:W3CDTF">2025-11-06T09:59:35Z</dcterms:modified>
  <cp:category/>
</cp:coreProperties>
</file>